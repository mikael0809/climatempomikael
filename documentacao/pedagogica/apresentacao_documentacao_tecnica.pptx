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109728"/>
          </a:xfrm>
          <a:prstGeom prst="rect">
            <a:avLst/>
          </a:prstGeom>
          <a:solidFill>
            <a:srgbClr val="F1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F1C232"/>
                </a:solidFill>
                <a:latin typeface="Segoe UI"/>
              </a:rPr>
              <a:t>PROJETO CLIMAALERTA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1737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Documentação técnica de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107899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Tipos de documentos, finalidade, estrutura e relação com o código — com exemplos reais do ClimaAlerta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78992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egoe UI"/>
              </a:rPr>
              <a:t>Material de aula independente · Ensino Médio e Curso Técnico em Informática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Segoe UI"/>
              </a:rPr>
              <a:t>Versão 1.0 · 21/10/2026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APRESENTAÇÃO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Roteiro da aula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8813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1. Conceitos fundamentais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2–4. Requisitos, regras de negócio e casos de uso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5–9. Arquitetura, BPMN, fluxogramas, dicionário de dados e modelo ER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10–11. Testes e matriz de rastreabilidade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12–14. Implantação, segurança e manual técnico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15–16. Manuais de usuário e pedagógico; integração documental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760720"/>
            <a:ext cx="10881360" cy="56692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760720"/>
            <a:ext cx="91440" cy="5669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797296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>
                <a:solidFill>
                  <a:srgbClr val="1F2D3D"/>
                </a:solidFill>
                <a:latin typeface="Segoe UI"/>
              </a:rPr>
              <a:t>Para cada documento: definição, finalidade, momento, público, estrutura, exemplo, erros e exercício.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APRESENTAÇÃO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O sistema que vamos usar como exemplo</a:t>
            </a:r>
          </a:p>
        </p:txBody>
      </p:sp>
      <p:pic>
        <p:nvPicPr>
          <p:cNvPr id="8" name="Picture 7" descr="app_aler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169" y="1325880"/>
            <a:ext cx="4161021" cy="4526280"/>
          </a:xfrm>
          <a:prstGeom prst="rect">
            <a:avLst/>
          </a:prstGeom>
          <a:ln>
            <a:solidFill>
              <a:srgbClr val="C9D3DD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40080" y="5897880"/>
            <a:ext cx="73152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5B6B7B"/>
                </a:solidFill>
                <a:latin typeface="Segoe UI"/>
              </a:rPr>
              <a:t>ClimaAlerta — Central de alertas (dados reais do INMET, 21/10/2026)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325880"/>
            <a:ext cx="3383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Segoe UI"/>
              </a:rPr>
              <a:t>Monitoramento meteorológico</a:t>
            </a:r>
          </a:p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Segoe UI"/>
              </a:rPr>
              <a:t>Open-Meteo + INMET</a:t>
            </a:r>
          </a:p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Segoe UI"/>
              </a:rPr>
              <a:t>12 documentos técnicos em PDF</a:t>
            </a:r>
          </a:p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Segoe UI"/>
              </a:rPr>
              <a:t>Documentos gerados a partir do código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337560"/>
            <a:ext cx="2011680" cy="91440"/>
          </a:xfrm>
          <a:prstGeom prst="rect">
            <a:avLst/>
          </a:prstGeom>
          <a:solidFill>
            <a:srgbClr val="F1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C232"/>
                </a:solidFill>
                <a:latin typeface="Segoe UI"/>
              </a:rPr>
              <a:t>Módulo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Conceitos fundamentais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Documentação técnica é o conjunto de registros que explica o que o software deve fazer, como foi construído, como funciona e como operá-lo.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EAF1F8"/>
                </a:solidFill>
                <a:latin typeface="Segoe UI"/>
              </a:rPr>
              <a:t>ClimaAlerta — Documentação técnica de software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 — CONCEITOS FUNDAMENTAIS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Por que documentar software?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b="1" sz="2400">
                <a:solidFill>
                  <a:srgbClr val="1F2D3D"/>
                </a:solidFill>
                <a:latin typeface="Segoe UI"/>
              </a:rPr>
              <a:t>Entendimento comum</a:t>
            </a:r>
            <a:r>
              <a:rPr sz="2400">
                <a:solidFill>
                  <a:srgbClr val="1F2D3D"/>
                </a:solidFill>
                <a:latin typeface="Segoe UI"/>
              </a:rPr>
              <a:t> entre cliente, equipe e professor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b="1" sz="2400">
                <a:solidFill>
                  <a:srgbClr val="1F2D3D"/>
                </a:solidFill>
                <a:latin typeface="Segoe UI"/>
              </a:rPr>
              <a:t>Manutenção</a:t>
            </a:r>
            <a:r>
              <a:rPr sz="2400">
                <a:solidFill>
                  <a:srgbClr val="1F2D3D"/>
                </a:solidFill>
                <a:latin typeface="Segoe UI"/>
              </a:rPr>
              <a:t>: quem chega depois entende o porquê das decisões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b="1" sz="2400">
                <a:solidFill>
                  <a:srgbClr val="1F2D3D"/>
                </a:solidFill>
                <a:latin typeface="Segoe UI"/>
              </a:rPr>
              <a:t>Qualidade</a:t>
            </a:r>
            <a:r>
              <a:rPr sz="2400">
                <a:solidFill>
                  <a:srgbClr val="1F2D3D"/>
                </a:solidFill>
                <a:latin typeface="Segoe UI"/>
              </a:rPr>
              <a:t>: requisitos claros permitem testes objetivos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b="1" sz="2400">
                <a:solidFill>
                  <a:srgbClr val="1F2D3D"/>
                </a:solidFill>
                <a:latin typeface="Segoe UI"/>
              </a:rPr>
              <a:t>Trabalho em equipe</a:t>
            </a:r>
            <a:r>
              <a:rPr sz="2400">
                <a:solidFill>
                  <a:srgbClr val="1F2D3D"/>
                </a:solidFill>
                <a:latin typeface="Segoe UI"/>
              </a:rPr>
              <a:t>: menos dependência da memória de uma pessoa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b="1" sz="2400">
                <a:solidFill>
                  <a:srgbClr val="1F2D3D"/>
                </a:solidFill>
                <a:latin typeface="Segoe UI"/>
              </a:rPr>
              <a:t>Segurança e operação</a:t>
            </a:r>
            <a:r>
              <a:rPr sz="2400">
                <a:solidFill>
                  <a:srgbClr val="1F2D3D"/>
                </a:solidFill>
                <a:latin typeface="Segoe UI"/>
              </a:rPr>
              <a:t>: instalar, recuperar falhas, conhecer limites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 — CONCEITOS FUNDAMENTAIS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Três tipos de documentação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206240"/>
                <a:gridCol w="44805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Tipo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Para quem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Exemplo no ClimaAlerta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Técnica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Equipe de desenvolvimento, analistas, testadores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Requisitos, arquitetura, dicionário de dados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De usuário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Quem usa o sistema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Guia de uso das páginas; README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Pedagógica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Quem está aprendendo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Manual passo a passo com exercícios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 — CONCEITOS FUNDAMENTAIS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Planejada × atualizada após a implementação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303520" cy="502920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Antes de codificar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Requisitos e regras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Casos de uso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Arquitetura inicial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Plano de testes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Depois / durante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Dicionário de dados real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Relatório de testes (resultados reais)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Manual técnico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Matriz de rastreabilidade atualizada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 — CONCEITOS FUNDAMENTAIS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Erros comuns e exercício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303520" cy="502920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Erros comuns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Documentar só no fim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Copiar modelos genéricos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Documento que contradiz o código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Inventar resultados de testes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Exercício rápido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Liste 3 problemas que surgem quando um sistema não tem documentação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Classifique o README do ClimaAlerta: técnico, de usuário ou pedagógico?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337560"/>
            <a:ext cx="2011680" cy="91440"/>
          </a:xfrm>
          <a:prstGeom prst="rect">
            <a:avLst/>
          </a:prstGeom>
          <a:solidFill>
            <a:srgbClr val="F1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C232"/>
                </a:solidFill>
                <a:latin typeface="Segoe UI"/>
              </a:rPr>
              <a:t>Módulo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Especificação de requisitos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O que o sistema deve fazer e com qual qualidade.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EAF1F8"/>
                </a:solidFill>
                <a:latin typeface="Segoe UI"/>
              </a:rPr>
              <a:t>ClimaAlerta — Documentação técnica de software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2 — REQUISITOS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Ficha do documento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3210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Aspecto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Resposta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Definição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Lista identificada do que o sistema deve fazer (funcionais) e de como deve se comportar (não funcionais).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Finalidade prática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Combinar o escopo, orientar o desenvolvimento e definir como cada item será aceito.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Quando é elaborado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No início do projeto; revisada a cada mudança de escopo.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Quem utiliza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Cliente, professor, desenvolvedores e testadores.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2 — REQUISITOS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Funcionais × não funcionais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303520" cy="502920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Funcionais (RF)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O que o sistema </a:t>
            </a:r>
            <a:r>
              <a:rPr b="1" sz="2100">
                <a:solidFill>
                  <a:srgbClr val="1F2D3D"/>
                </a:solidFill>
                <a:latin typeface="Segoe UI"/>
              </a:rPr>
              <a:t>faz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RF008 Consultar alertas oficiais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RF014 Exportação CSV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Verificados por testes de comportamento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Não funcionais (RNF)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b="1" sz="2100">
                <a:solidFill>
                  <a:srgbClr val="1F2D3D"/>
                </a:solidFill>
                <a:latin typeface="Segoe UI"/>
              </a:rPr>
              <a:t>Como</a:t>
            </a:r>
            <a:r>
              <a:rPr sz="2100">
                <a:solidFill>
                  <a:srgbClr val="1F2D3D"/>
                </a:solidFill>
                <a:latin typeface="Segoe UI"/>
              </a:rPr>
              <a:t> o sistema deve ser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RNF002 Timeouts HTTP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RNF007 Desempenho (≤ 10 s)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Segurança, usabilidade, portabilidade…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2 — REQUISITOS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Estrutura mínima de um requisito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8813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b="1" sz="2400">
                <a:solidFill>
                  <a:srgbClr val="1F2D3D"/>
                </a:solidFill>
                <a:latin typeface="Segoe UI"/>
              </a:rPr>
              <a:t>Identificador</a:t>
            </a:r>
            <a:r>
              <a:rPr sz="2400">
                <a:solidFill>
                  <a:srgbClr val="1F2D3D"/>
                </a:solidFill>
                <a:latin typeface="Segoe UI"/>
              </a:rPr>
              <a:t> único e estável (RF001, RNF001…)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b="1" sz="2400">
                <a:solidFill>
                  <a:srgbClr val="1F2D3D"/>
                </a:solidFill>
                <a:latin typeface="Segoe UI"/>
              </a:rPr>
              <a:t>Descrição</a:t>
            </a:r>
            <a:r>
              <a:rPr sz="2400">
                <a:solidFill>
                  <a:srgbClr val="1F2D3D"/>
                </a:solidFill>
                <a:latin typeface="Segoe UI"/>
              </a:rPr>
              <a:t> clara e verificável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b="1" sz="2400">
                <a:solidFill>
                  <a:srgbClr val="1F2D3D"/>
                </a:solidFill>
                <a:latin typeface="Segoe UI"/>
              </a:rPr>
              <a:t>Prioridade</a:t>
            </a:r>
            <a:r>
              <a:rPr sz="2400">
                <a:solidFill>
                  <a:srgbClr val="1F2D3D"/>
                </a:solidFill>
                <a:latin typeface="Segoe UI"/>
              </a:rPr>
              <a:t> (alta, média, baixa)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b="1" sz="2400">
                <a:solidFill>
                  <a:srgbClr val="1F2D3D"/>
                </a:solidFill>
                <a:latin typeface="Segoe UI"/>
              </a:rPr>
              <a:t>Justificativa</a:t>
            </a:r>
            <a:r>
              <a:rPr sz="2400">
                <a:solidFill>
                  <a:srgbClr val="1F2D3D"/>
                </a:solidFill>
                <a:latin typeface="Segoe UI"/>
              </a:rPr>
              <a:t>: por que existe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b="1" sz="2400">
                <a:solidFill>
                  <a:srgbClr val="1F2D3D"/>
                </a:solidFill>
                <a:latin typeface="Segoe UI"/>
              </a:rPr>
              <a:t>Critério de aceitação</a:t>
            </a:r>
            <a:r>
              <a:rPr sz="2400">
                <a:solidFill>
                  <a:srgbClr val="1F2D3D"/>
                </a:solidFill>
                <a:latin typeface="Segoe UI"/>
              </a:rPr>
              <a:t>: como saber que está pronto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760720"/>
            <a:ext cx="10881360" cy="56692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760720"/>
            <a:ext cx="91440" cy="5669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797296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>
                <a:solidFill>
                  <a:srgbClr val="1F2D3D"/>
                </a:solidFill>
                <a:latin typeface="Segoe UI"/>
              </a:rPr>
              <a:t>Requisito sem critério de aceitação não pode ser testado.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2 — REQUISITOS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Exemplo real do ClimaAlerta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51960"/>
                <a:gridCol w="42519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Campo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RF014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RNF002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Título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Exportação CSV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Timeouts HTTP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Descrição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Exportar previsões, histórico, alertas oficiais e indicadores para CSV compatível com planilhas em português.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Toda requisição HTTP deve ter tempo limite (padrão 15 s).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Prioridade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Média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Alta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Critério de aceitação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O arquivo usa ';', vírgula decimal, UTF-8 com BOM, horário de Brasília e colunas 'fonte' e 'tipo_registro'.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Um timeout gera SourceUnavailableError tratado.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2 — REQUISITOS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Erros comuns e exercício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303520" cy="502920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Erros comuns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Requisito vago: "o sistema deve ser rápido"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Misturar requisito com solução técnica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Sem identificador ou sem critério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Requisitos duplicados ou contraditórios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Exercício rápido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Reescreva "o sistema deve ser rápido" como RNF verificável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Escreva um RF para "notificar novo aviso oficial" com critério de aceitação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337560"/>
            <a:ext cx="2011680" cy="91440"/>
          </a:xfrm>
          <a:prstGeom prst="rect">
            <a:avLst/>
          </a:prstGeom>
          <a:solidFill>
            <a:srgbClr val="F1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C232"/>
                </a:solidFill>
                <a:latin typeface="Segoe UI"/>
              </a:rPr>
              <a:t>Módulo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Regras de negócio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Políticas e condições que o sistema deve respeitar.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EAF1F8"/>
                </a:solidFill>
                <a:latin typeface="Segoe UI"/>
              </a:rPr>
              <a:t>ClimaAlerta — Documentação técnica de software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3 — REGRAS DE NEGÓCIO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Ficha do documento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3210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Aspecto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Resposta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Definição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Descrição das condições, restrições e cálculos do domínio, independente da tecnologia.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Finalidade prática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Garantir decisões corretas e consistentes; base para testes de borda.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Quando é elaborado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Junto com os requisitos; refinada durante a implementação.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Quem utiliza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Analistas, desenvolvedores, testadores e especialistas do domínio.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3 — REGRAS DE NEGÓCIO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Requisito × regra de negócio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303520" cy="502920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Requisito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Diz </a:t>
            </a:r>
            <a:r>
              <a:rPr b="1" sz="2100">
                <a:solidFill>
                  <a:srgbClr val="1F2D3D"/>
                </a:solidFill>
                <a:latin typeface="Segoe UI"/>
              </a:rPr>
              <a:t>o que</a:t>
            </a:r>
            <a:r>
              <a:rPr sz="2100">
                <a:solidFill>
                  <a:srgbClr val="1F2D3D"/>
                </a:solidFill>
                <a:latin typeface="Segoe UI"/>
              </a:rPr>
              <a:t> fazer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RF009 Calcular indicadores locais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Visão de funcionalidade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Regra de negócio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Diz </a:t>
            </a:r>
            <a:r>
              <a:rPr b="1" sz="2100">
                <a:solidFill>
                  <a:srgbClr val="1F2D3D"/>
                </a:solidFill>
                <a:latin typeface="Segoe UI"/>
              </a:rPr>
              <a:t>sob quais condições</a:t>
            </a:r>
            <a:r>
              <a:rPr sz="2100">
                <a:solidFill>
                  <a:srgbClr val="1F2D3D"/>
                </a:solidFill>
                <a:latin typeface="Segoe UI"/>
              </a:rPr>
              <a:t> e </a:t>
            </a:r>
            <a:r>
              <a:rPr b="1" sz="2100">
                <a:solidFill>
                  <a:srgbClr val="1F2D3D"/>
                </a:solidFill>
                <a:latin typeface="Segoe UI"/>
              </a:rPr>
              <a:t>com qual resultado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RN007 Limite inclusivo; NULL nunca dispara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Condição → resultado → exceções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3 — REGRAS DE NEGÓCIO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Exemplo: separação oficial × calculado (RN009)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5039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Campo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Conteúdo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Condição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Persistência e exibição de alertas.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Resultado esperado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A tabela weather_alert aceita somente alert_type = 'OFICIAL' (CHECK no banco e verificação no repositório). Indicadores são calculados sob demanda e exibidos em seção própria, após os oficiais.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Exceções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Tentativa de gravar indicador como alerta lança erro.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Implementação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models.WeatherAlert (ck_alert_type); repositories.upsert_alerts; page_alertas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3 — REGRAS DE NEGÓCIO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Erros comuns e exercício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303520" cy="502920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Erros comuns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Regra escondida apenas no código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Esquecer as exceções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Regra sem teste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Usar termos ambíguos ("normalmente")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Exercício rápido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Escreva a regra de um indicador de "umidade baixa" com condição, resultado e exceções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Qual teste do ClimaAlerta comprova a RN009?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337560"/>
            <a:ext cx="2011680" cy="91440"/>
          </a:xfrm>
          <a:prstGeom prst="rect">
            <a:avLst/>
          </a:prstGeom>
          <a:solidFill>
            <a:srgbClr val="F1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C232"/>
                </a:solidFill>
                <a:latin typeface="Segoe UI"/>
              </a:rPr>
              <a:t>Módulo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Casos de uso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Interações completas entre atores e o sistema.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EAF1F8"/>
                </a:solidFill>
                <a:latin typeface="Segoe UI"/>
              </a:rPr>
              <a:t>ClimaAlerta — Documentação técnica de software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4 — CASOS DE USO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Ficha do documento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3210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Aspecto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Resposta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Definição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Descrição de como um ator usa o sistema para atingir um objetivo, com fluxos e exceções.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Finalidade prática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Entender o uso real, implementar telas e escrever testes de aceitação.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Quando é elaborado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Após os requisitos iniciais; antes de projetar a interface.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Quem utiliza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Analistas, desenvolvedores, testadores e cliente.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4 — CASOS DE USO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Estrutura mínima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b="1" sz="2400">
                <a:solidFill>
                  <a:srgbClr val="1F2D3D"/>
                </a:solidFill>
                <a:latin typeface="Segoe UI"/>
              </a:rPr>
              <a:t>Atores</a:t>
            </a:r>
            <a:r>
              <a:rPr sz="2400">
                <a:solidFill>
                  <a:srgbClr val="1F2D3D"/>
                </a:solidFill>
                <a:latin typeface="Segoe UI"/>
              </a:rPr>
              <a:t> (principais e secundários)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b="1" sz="2400">
                <a:solidFill>
                  <a:srgbClr val="1F2D3D"/>
                </a:solidFill>
                <a:latin typeface="Segoe UI"/>
              </a:rPr>
              <a:t>Pré-condições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b="1" sz="2400">
                <a:solidFill>
                  <a:srgbClr val="1F2D3D"/>
                </a:solidFill>
                <a:latin typeface="Segoe UI"/>
              </a:rPr>
              <a:t>Fluxo principal</a:t>
            </a:r>
            <a:r>
              <a:rPr sz="2400">
                <a:solidFill>
                  <a:srgbClr val="1F2D3D"/>
                </a:solidFill>
                <a:latin typeface="Segoe UI"/>
              </a:rPr>
              <a:t> (caminho feliz, numerado)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b="1" sz="2400">
                <a:solidFill>
                  <a:srgbClr val="1F2D3D"/>
                </a:solidFill>
                <a:latin typeface="Segoe UI"/>
              </a:rPr>
              <a:t>Fluxos alternativos</a:t>
            </a:r>
            <a:r>
              <a:rPr sz="2400">
                <a:solidFill>
                  <a:srgbClr val="1F2D3D"/>
                </a:solidFill>
                <a:latin typeface="Segoe UI"/>
              </a:rPr>
              <a:t> e </a:t>
            </a:r>
            <a:r>
              <a:rPr b="1" sz="2400">
                <a:solidFill>
                  <a:srgbClr val="1F2D3D"/>
                </a:solidFill>
                <a:latin typeface="Segoe UI"/>
              </a:rPr>
              <a:t>exceções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b="1" sz="2400">
                <a:solidFill>
                  <a:srgbClr val="1F2D3D"/>
                </a:solidFill>
                <a:latin typeface="Segoe UI"/>
              </a:rPr>
              <a:t>Pós-condições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Requisitos relacionados e testes de aceitação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4 — CASOS DE USO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Exemplo: UC05 — Atualizar dados manualmente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5039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Campo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Conteúdo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Atores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Usuário/Aluno; INMET e Open-Meteo (secundários)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Pré-condição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Município ativo cadastrado.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Fluxo principal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1. Usuário clica em 'Atualizar agora'. → 2. Sistema coleta os avisos do INMET. → 3. Sistema coleta a previsão de cada município ativo. → 4. Sistema grava os dados (upsert) e os registros de coleta. → 5. Sistema exibe o resultado de cada fonte na barra lateral.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Exceção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E1: fonte indisponível ou resposta inválida → FALHA registrada, dados anteriores preservados, mensagem exibida.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Pós-condição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Dados e CollectionLog atualizados.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4 — CASOS DE USO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Diagrama × especificação textual</a:t>
            </a:r>
          </a:p>
        </p:txBody>
      </p:sp>
      <p:pic>
        <p:nvPicPr>
          <p:cNvPr id="8" name="Picture 7" descr="casos_de_u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846" y="1325880"/>
            <a:ext cx="5341666" cy="4892040"/>
          </a:xfrm>
          <a:prstGeom prst="rect">
            <a:avLst/>
          </a:prstGeom>
          <a:ln>
            <a:solidFill>
              <a:srgbClr val="C9D3DD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229600" y="1325880"/>
            <a:ext cx="3383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Segoe UI"/>
              </a:rPr>
              <a:t>Diagrama: visão geral de atores e funções</a:t>
            </a:r>
          </a:p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Segoe UI"/>
              </a:rPr>
              <a:t>Texto: passos, regras e exceções</a:t>
            </a:r>
          </a:p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Segoe UI"/>
              </a:rPr>
              <a:t>Os dois se complementam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4 — CASOS DE USO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Erros comuns e exercício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303520" cy="502920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Erros comuns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Caso de uso = tela ("clicar no botão")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Sem exceções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Ator vago ("o sistema")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Diagrama sem a especificação textual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Exercício rápido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Escreva o fluxo principal de "Exportar dados em CSV"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Liste duas exceções para "Cadastrar município"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337560"/>
            <a:ext cx="2011680" cy="91440"/>
          </a:xfrm>
          <a:prstGeom prst="rect">
            <a:avLst/>
          </a:prstGeom>
          <a:solidFill>
            <a:srgbClr val="F1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C232"/>
                </a:solidFill>
                <a:latin typeface="Segoe UI"/>
              </a:rPr>
              <a:t>Módulo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Arquitetura de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A organização do sistema em partes e suas relações.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EAF1F8"/>
                </a:solidFill>
                <a:latin typeface="Segoe UI"/>
              </a:rPr>
              <a:t>ClimaAlerta — Documentação técnica de software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5 — ARQUITETURA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Ficha do documento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3210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Aspecto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Resposta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Definição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Descrição das camadas, componentes, tecnologias e implantação do sistema.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Finalidade prática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Guiar a implementação, distribuir responsabilidades e facilitar mudanças.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Quando é elaborado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No início (visão inicial) e atualizada ao final, refletindo o código real.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Quem utiliza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Desenvolvedores, arquitetos e técnicos de operação.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5 — ARQUITETURA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Camadas e separação de responsabilidades</a:t>
            </a:r>
          </a:p>
        </p:txBody>
      </p:sp>
      <p:pic>
        <p:nvPicPr>
          <p:cNvPr id="8" name="Picture 7" descr="arquitetura_01_cama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565" y="1325880"/>
            <a:ext cx="6930390" cy="4892040"/>
          </a:xfrm>
          <a:prstGeom prst="rect">
            <a:avLst/>
          </a:prstGeom>
          <a:ln>
            <a:solidFill>
              <a:srgbClr val="C9D3DD"/>
            </a:solidFill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5 — ARQUITETURA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Diagrama de componentes (dos imports reais)</a:t>
            </a:r>
          </a:p>
        </p:txBody>
      </p:sp>
      <p:pic>
        <p:nvPicPr>
          <p:cNvPr id="8" name="Picture 7" descr="arquitetura_02_compone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854" y="1325880"/>
            <a:ext cx="7475811" cy="4892040"/>
          </a:xfrm>
          <a:prstGeom prst="rect">
            <a:avLst/>
          </a:prstGeom>
          <a:ln>
            <a:solidFill>
              <a:srgbClr val="C9D3DD"/>
            </a:solidFill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5 — ARQUITETURA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Diagrama de implantação</a:t>
            </a:r>
          </a:p>
        </p:txBody>
      </p:sp>
      <p:pic>
        <p:nvPicPr>
          <p:cNvPr id="8" name="Picture 7" descr="arquitetura_03_implant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596" y="1325880"/>
            <a:ext cx="8000326" cy="4892040"/>
          </a:xfrm>
          <a:prstGeom prst="rect">
            <a:avLst/>
          </a:prstGeom>
          <a:ln>
            <a:solidFill>
              <a:srgbClr val="C9D3DD"/>
            </a:solidFill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5 — ARQUITETURA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Erros comuns e exercício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303520" cy="502920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Erros comuns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Diagrama bonito que não corresponde ao código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Interface chamando API diretamente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Sem justificar as tecnologias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Esquecer a implantação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Exercício rápido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Em qual camada fica a regra de validade dos alertas?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Por que a interface lê o banco e não a API?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337560"/>
            <a:ext cx="2011680" cy="91440"/>
          </a:xfrm>
          <a:prstGeom prst="rect">
            <a:avLst/>
          </a:prstGeom>
          <a:solidFill>
            <a:srgbClr val="F1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C232"/>
                </a:solidFill>
                <a:latin typeface="Segoe UI"/>
              </a:rPr>
              <a:t>Módulo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Modelagem de processos (BPMN)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Processos de negócio com responsabilidades, eventos e decisões.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EAF1F8"/>
                </a:solidFill>
                <a:latin typeface="Segoe UI"/>
              </a:rPr>
              <a:t>ClimaAlerta — Documentação técnica de software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6 — BPMN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Ficha do documento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3210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Aspecto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Resposta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Definição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Notação padronizada (BPMN 2.0, ISO/IEC 19510) para processos de negócio.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Finalidade prática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Mostrar quem faz o quê, em que ordem, com quais decisões e mensagens externas.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Quando é elaborado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Na análise do negócio e quando processos mudam.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Quem utiliza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Analistas, gestores, desenvolvedores.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6 — BPMN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Elementos principais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108960"/>
                <a:gridCol w="44805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Elemento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Símbolo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Uso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Evento de início / fim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Círculo fino / grosso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Gatilho e resultado do processo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Tarefa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Retângulo arredondado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Atividade (⚙ serviço, ☺ usuário)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Gateway exclusivo / paralelo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Losango ✕ / 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Decisão / caminhos simultâneos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Raia e pool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Faixas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Responsáveis e participantes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Fluxo de sequência / mensagem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Seta contínua / tracejada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Ordem / comunicação externa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6 — BPMN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Exemplo: coleta meteorológica periódica</a:t>
            </a:r>
          </a:p>
        </p:txBody>
      </p:sp>
      <p:pic>
        <p:nvPicPr>
          <p:cNvPr id="8" name="Picture 7" descr="bpmn_01_coleta_period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10881360" cy="4415120"/>
          </a:xfrm>
          <a:prstGeom prst="rect">
            <a:avLst/>
          </a:prstGeom>
          <a:ln>
            <a:solidFill>
              <a:srgbClr val="C9D3DD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40080" y="5786720"/>
            <a:ext cx="108813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5B6B7B"/>
                </a:solidFill>
                <a:latin typeface="Segoe UI"/>
              </a:rPr>
              <a:t>Arquivo editável: documentacao/fontes/diagramas/bpmn_01_coleta_periodica.bpmn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6 — BPMN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BPMN × fluxograma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206240"/>
                <a:gridCol w="39319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Aspecto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BPMN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Fluxograma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Foco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Processo de negócio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Algoritmo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Responsáveis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Raias e pools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Não representa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Eventos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Início, fim, tempo, mensagem, erro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Só início/fim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Padrão de troca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XML BPMN 2.0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Não há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6 — BPMN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Erros comuns e exercício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303520" cy="502920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Erros comuns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Usar BPMN como fluxograma de código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Gateway sem rótulos nas saídas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Mensagem externa desenhada como fluxo de sequência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Raias sem responsável claro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Exercício rápido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No BPMN de coleta, qual evento inicia o processo?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Desenhe um BPMN simples para "Cadastrar município" com duas raias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337560"/>
            <a:ext cx="2011680" cy="91440"/>
          </a:xfrm>
          <a:prstGeom prst="rect">
            <a:avLst/>
          </a:prstGeom>
          <a:solidFill>
            <a:srgbClr val="F1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C232"/>
                </a:solidFill>
                <a:latin typeface="Segoe UI"/>
              </a:rPr>
              <a:t>Módulo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Fluxogramas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A sequência de passos de um algoritmo.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EAF1F8"/>
                </a:solidFill>
                <a:latin typeface="Segoe UI"/>
              </a:rPr>
              <a:t>ClimaAlerta — Documentação técnica de software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7 — FLUXOGRAMAS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Ficha do documento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3210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Aspecto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Resposta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Definição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Representação gráfica de um algoritmo com símbolos convencionais.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Finalidade prática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Planejar e explicar a lógica: sequência, decisões, entradas e saídas.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Quando é elaborado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Antes de codificar uma função complexa; para documentar algoritmos existentes.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Quem utiliza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Programadores, alunos e professores.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7 — FLUXOGRAMAS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Símbolos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474720"/>
                <a:gridCol w="46634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Símbolo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Forma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Significado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Terminal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Retângulo arredondado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Início / fim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Processo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Retângulo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Operação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Decisão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Losango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Pergunta Sim/Não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Entrada/saída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Paralelogramo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Dados do usuário/tela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Banco de dados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Cilindro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Leitura/gravação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Seta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Linha com ponta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Ordem; rótulo = condição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7 — FLUXOGRAMAS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Exemplo: coleta via API</a:t>
            </a:r>
          </a:p>
        </p:txBody>
      </p:sp>
      <p:pic>
        <p:nvPicPr>
          <p:cNvPr id="8" name="Picture 7" descr="fluxo_03_coleta_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205" y="1325880"/>
            <a:ext cx="3530948" cy="4892040"/>
          </a:xfrm>
          <a:prstGeom prst="rect">
            <a:avLst/>
          </a:prstGeom>
          <a:ln>
            <a:solidFill>
              <a:srgbClr val="C9D3DD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229600" y="1325880"/>
            <a:ext cx="3383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Segoe UI"/>
              </a:rPr>
              <a:t>Entrada: municípios ativos</a:t>
            </a:r>
          </a:p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Segoe UI"/>
              </a:rPr>
              <a:t>Decisões: fonte respondeu? JSON válido?</a:t>
            </a:r>
          </a:p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Segoe UI"/>
              </a:rPr>
              <a:t>Saída: dados gravados + log</a:t>
            </a:r>
          </a:p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Segoe UI"/>
              </a:rPr>
              <a:t>Laço: próximo município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7 — FLUXOGRAMAS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Erros comuns e exercício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303520" cy="502920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Erros comuns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Decisão com uma única saída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Setas sem direção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Fluxo sem fim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Detalhar demais (cada linha de código)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Exercício rápido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Desenhe o fluxograma de "converter °C em °F e classificar"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No fluxograma de coleta, o que acontece se o JSON for inválido?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337560"/>
            <a:ext cx="2011680" cy="91440"/>
          </a:xfrm>
          <a:prstGeom prst="rect">
            <a:avLst/>
          </a:prstGeom>
          <a:solidFill>
            <a:srgbClr val="F1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C232"/>
                </a:solidFill>
                <a:latin typeface="Segoe UI"/>
              </a:rPr>
              <a:t>Módulo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Dicionário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A descrição detalhada de cada campo do banco.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EAF1F8"/>
                </a:solidFill>
                <a:latin typeface="Segoe UI"/>
              </a:rPr>
              <a:t>ClimaAlerta — Documentação técnica de software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8 — DICIONÁRIO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Ficha do documento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3210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Aspecto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Resposta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Definição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Catálogo de tabelas e colunas: tipo, obrigatoriedade, chaves, restrições, significado e origem.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Finalidade prática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Evitar interpretações erradas dos dados e apoiar consultas, integrações e manutenção.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Quando é elaborado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Durante a modelagem e atualizado a cada mudança de esquema.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Quem utiliza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Desenvolvedores, analistas de dados e testadores.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8 — DICIONÁRIO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Exemplo real: tabela weather_alert (trecho)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737360"/>
                <a:gridCol w="914400"/>
                <a:gridCol w="3291840"/>
                <a:gridCol w="28346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Coluna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Tipo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Obrig.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Descrição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Origem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external_id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VARCHAR(80)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ID original na fonte.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INMET 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severity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VARCHAR(60)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Severidade conforme a fonte.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INMET severidade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effective_at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DATETIME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não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Início da validade (UTC).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INMET inicio (Brasília → UTC)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alert_type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VARCHAR(10)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Constante 'OFICIAL' (RN009)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5760720"/>
            <a:ext cx="10881360" cy="56692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760720"/>
            <a:ext cx="91440" cy="5669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797296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>
                <a:solidFill>
                  <a:srgbClr val="1F2D3D"/>
                </a:solidFill>
                <a:latin typeface="Segoe UI"/>
              </a:rPr>
              <a:t>Gerado dos modelos SQLAlchemy: o dicionário sempre corresponde ao banco real.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8 — DICIONÁRIO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Dicionário × modelo ER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069080"/>
                <a:gridCol w="4069080"/>
              </a:tblGrid>
              <a:tr h="365760">
                <a:tc>
                  <a:txBody>
                    <a:bodyPr wrap="square"/>
                    <a:lstStyle/>
                    <a:p/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Dicionário de dados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Modelo entidade-relacionamento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Forma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Tabelas de texto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Diagrama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Mostra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Cada campo em detalhe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Entidades e relacionamentos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Pergunta que responde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"O que significa este campo?"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"Como as tabelas se ligam?"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8 — DICIONÁRIO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Erros comuns e exercício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303520" cy="502920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Erros comuns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Dicionário desatualizado em relação ao banco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Sem unidades (°C? %?)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Sem origem dos dados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Não informar campos opcionais (NULL)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Exercício rápido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Descreva a coluna </a:t>
            </a:r>
            <a:r>
              <a:rPr sz="2100">
                <a:solidFill>
                  <a:srgbClr val="1F2D3D"/>
                </a:solidFill>
                <a:latin typeface="Consolas"/>
              </a:rPr>
              <a:t>precipitation_probability</a:t>
            </a:r>
            <a:r>
              <a:rPr sz="2100">
                <a:solidFill>
                  <a:srgbClr val="1F2D3D"/>
                </a:solidFill>
                <a:latin typeface="Segoe UI"/>
              </a:rPr>
              <a:t> (tipo, unidade, origem)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Por que </a:t>
            </a:r>
            <a:r>
              <a:rPr sz="2100">
                <a:solidFill>
                  <a:srgbClr val="1F2D3D"/>
                </a:solidFill>
                <a:latin typeface="Consolas"/>
              </a:rPr>
              <a:t>alert_type</a:t>
            </a:r>
            <a:r>
              <a:rPr sz="2100">
                <a:solidFill>
                  <a:srgbClr val="1F2D3D"/>
                </a:solidFill>
                <a:latin typeface="Segoe UI"/>
              </a:rPr>
              <a:t> só aceita 'OFICIAL'?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337560"/>
            <a:ext cx="2011680" cy="91440"/>
          </a:xfrm>
          <a:prstGeom prst="rect">
            <a:avLst/>
          </a:prstGeom>
          <a:solidFill>
            <a:srgbClr val="F1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C232"/>
                </a:solidFill>
                <a:latin typeface="Segoe UI"/>
              </a:rPr>
              <a:t>Módulo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Modelo entidade-relacionamento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Entidades, atributos, relacionamentos e cardinalidade.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EAF1F8"/>
                </a:solidFill>
                <a:latin typeface="Segoe UI"/>
              </a:rPr>
              <a:t>ClimaAlerta — Documentação técnica de software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9 — MODELO ENTIDADE-RELACIONAMENTO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Ficha do documento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3210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Aspecto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Resposta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Definição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Diagrama que representa as entidades do domínio, seus atributos e relacionamentos.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Finalidade prática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Projetar o banco de dados e comunicar a estrutura dos dados.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Quando é elaborado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Na modelagem, antes de criar as tabelas; atualizado com o esquema.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Quem utiliza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Desenvolvedores, DBAs e analistas.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9 — MODELO ENTIDADE-RELACIONAMENTO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Conceitos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b="1" sz="2400">
                <a:solidFill>
                  <a:srgbClr val="1F2D3D"/>
                </a:solidFill>
                <a:latin typeface="Segoe UI"/>
              </a:rPr>
              <a:t>Entidade</a:t>
            </a:r>
            <a:r>
              <a:rPr sz="2400">
                <a:solidFill>
                  <a:srgbClr val="1F2D3D"/>
                </a:solidFill>
                <a:latin typeface="Segoe UI"/>
              </a:rPr>
              <a:t>: algo sobre o que guardamos dados (Município, Observação)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b="1" sz="2400">
                <a:solidFill>
                  <a:srgbClr val="1F2D3D"/>
                </a:solidFill>
                <a:latin typeface="Segoe UI"/>
              </a:rPr>
              <a:t>Atributo</a:t>
            </a:r>
            <a:r>
              <a:rPr sz="2400">
                <a:solidFill>
                  <a:srgbClr val="1F2D3D"/>
                </a:solidFill>
                <a:latin typeface="Segoe UI"/>
              </a:rPr>
              <a:t>: característica (nome, temperatura)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b="1" sz="2400">
                <a:solidFill>
                  <a:srgbClr val="1F2D3D"/>
                </a:solidFill>
                <a:latin typeface="Segoe UI"/>
              </a:rPr>
              <a:t>Chave primária</a:t>
            </a:r>
            <a:r>
              <a:rPr sz="2400">
                <a:solidFill>
                  <a:srgbClr val="1F2D3D"/>
                </a:solidFill>
                <a:latin typeface="Segoe UI"/>
              </a:rPr>
              <a:t> identifica; </a:t>
            </a:r>
            <a:r>
              <a:rPr b="1" sz="2400">
                <a:solidFill>
                  <a:srgbClr val="1F2D3D"/>
                </a:solidFill>
                <a:latin typeface="Segoe UI"/>
              </a:rPr>
              <a:t>chave estrangeira</a:t>
            </a:r>
            <a:r>
              <a:rPr sz="2400">
                <a:solidFill>
                  <a:srgbClr val="1F2D3D"/>
                </a:solidFill>
                <a:latin typeface="Segoe UI"/>
              </a:rPr>
              <a:t> relaciona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b="1" sz="2400">
                <a:solidFill>
                  <a:srgbClr val="1F2D3D"/>
                </a:solidFill>
                <a:latin typeface="Segoe UI"/>
              </a:rPr>
              <a:t>Cardinalidade</a:t>
            </a:r>
            <a:r>
              <a:rPr sz="2400">
                <a:solidFill>
                  <a:srgbClr val="1F2D3D"/>
                </a:solidFill>
                <a:latin typeface="Segoe UI"/>
              </a:rPr>
              <a:t>: 1:1, 1:N, N:N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No ClimaAlerta: um município possui </a:t>
            </a:r>
            <a:r>
              <a:rPr b="1" sz="2400">
                <a:solidFill>
                  <a:srgbClr val="1F2D3D"/>
                </a:solidFill>
                <a:latin typeface="Segoe UI"/>
              </a:rPr>
              <a:t>N</a:t>
            </a:r>
            <a:r>
              <a:rPr sz="2400">
                <a:solidFill>
                  <a:srgbClr val="1F2D3D"/>
                </a:solidFill>
                <a:latin typeface="Segoe UI"/>
              </a:rPr>
              <a:t> observações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9 — MODELO ENTIDADE-RELACIONAMENTO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Exemplo real (gerado do código)</a:t>
            </a:r>
          </a:p>
        </p:txBody>
      </p:sp>
      <p:pic>
        <p:nvPicPr>
          <p:cNvPr id="8" name="Picture 7" descr="modelo_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419" y="1325880"/>
            <a:ext cx="5356521" cy="4892040"/>
          </a:xfrm>
          <a:prstGeom prst="rect">
            <a:avLst/>
          </a:prstGeom>
          <a:ln>
            <a:solidFill>
              <a:srgbClr val="C9D3DD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229600" y="1325880"/>
            <a:ext cx="3383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Consolas"/>
              </a:rPr>
              <a:t>municipality</a:t>
            </a:r>
            <a:r>
              <a:rPr sz="1800">
                <a:solidFill>
                  <a:srgbClr val="1F2D3D"/>
                </a:solidFill>
                <a:latin typeface="Segoe UI"/>
              </a:rPr>
              <a:t> no centro</a:t>
            </a:r>
          </a:p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Segoe UI"/>
              </a:rPr>
              <a:t>4 relacionamentos 1:N</a:t>
            </a:r>
          </a:p>
          <a:p>
            <a:pPr>
              <a:spcAft>
                <a:spcPts val="630"/>
              </a:spcAft>
            </a:pPr>
            <a:r>
              <a:rPr sz="1800">
                <a:solidFill>
                  <a:srgbClr val="3D85C6"/>
                </a:solidFill>
                <a:latin typeface="Segoe UI"/>
              </a:rPr>
              <a:t>• </a:t>
            </a:r>
            <a:r>
              <a:rPr sz="1800">
                <a:solidFill>
                  <a:srgbClr val="1F2D3D"/>
                </a:solidFill>
                <a:latin typeface="Consolas"/>
              </a:rPr>
              <a:t>weather_alert</a:t>
            </a:r>
            <a:r>
              <a:rPr sz="1800">
                <a:solidFill>
                  <a:srgbClr val="1F2D3D"/>
                </a:solidFill>
                <a:latin typeface="Segoe UI"/>
              </a:rPr>
              <a:t> liga-se por códigos IBGE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9 — MODELO ENTIDADE-RELACIONAMENTO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Erros comuns e exercício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303520" cy="502920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Erros comuns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Cardinalidade ausente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Atributos repetidos em várias tabelas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Relacionamento N:N sem tabela associativa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Modelo que não corresponde às tabelas reais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Exercício rápido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Qual a cardinalidade entre </a:t>
            </a:r>
            <a:r>
              <a:rPr sz="2100">
                <a:solidFill>
                  <a:srgbClr val="1F2D3D"/>
                </a:solidFill>
                <a:latin typeface="Consolas"/>
              </a:rPr>
              <a:t>municipality</a:t>
            </a:r>
            <a:r>
              <a:rPr sz="2100">
                <a:solidFill>
                  <a:srgbClr val="1F2D3D"/>
                </a:solidFill>
                <a:latin typeface="Segoe UI"/>
              </a:rPr>
              <a:t> e </a:t>
            </a:r>
            <a:r>
              <a:rPr sz="2100">
                <a:solidFill>
                  <a:srgbClr val="1F2D3D"/>
                </a:solidFill>
                <a:latin typeface="Consolas"/>
              </a:rPr>
              <a:t>collection_log</a:t>
            </a:r>
            <a:r>
              <a:rPr sz="2100">
                <a:solidFill>
                  <a:srgbClr val="1F2D3D"/>
                </a:solidFill>
                <a:latin typeface="Segoe UI"/>
              </a:rPr>
              <a:t>?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Modele "Usuário acompanha Municípios" (N:N)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337560"/>
            <a:ext cx="2011680" cy="91440"/>
          </a:xfrm>
          <a:prstGeom prst="rect">
            <a:avLst/>
          </a:prstGeom>
          <a:solidFill>
            <a:srgbClr val="F1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C232"/>
                </a:solidFill>
                <a:latin typeface="Segoe UI"/>
              </a:rPr>
              <a:t>Módulo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Plano e relatório de testes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O que será testado — e o que realmente aconteceu.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EAF1F8"/>
                </a:solidFill>
                <a:latin typeface="Segoe UI"/>
              </a:rPr>
              <a:t>ClimaAlerta — Documentação técnica de software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10 — PLANO E RELATÓRIO DE TESTES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Ficha do documento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3210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Aspecto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Resposta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Definição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Plano: estratégia, casos e critérios. Relatório: resultados reais obtidos, defeitos e pendências.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Finalidade prática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Comprovar a qualidade com evidências e registrar defeitos.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Quando é elaborado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Plano antes/durante o desenvolvimento; relatório após cada execução relevante.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Quem utiliza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Testadores, desenvolvedores, professor e cliente.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10 — PLANO E RELATÓRIO DE TESTES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Tipos de teste no ClimaAlerta (execução real)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5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937760"/>
                <a:gridCol w="3749039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Tipo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Exemplo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Arquivo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Unitário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Conversão e validação de valores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test_validators.py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Integração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Coletor + banco SQLite temporário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test_collectors.py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Interface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7 páginas renderizam sem erro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test_ui_pages.py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Selenium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Extração com Chrome headless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Consolas"/>
                        </a:rPr>
                        <a:t>test_scraper_selenium.py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Resultado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205 de 205 casos aprovados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JUnit XML gerado pelo pytest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5760720"/>
            <a:ext cx="10881360" cy="56692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760720"/>
            <a:ext cx="91440" cy="5669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797296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>
                <a:solidFill>
                  <a:srgbClr val="1F2D3D"/>
                </a:solidFill>
                <a:latin typeface="Segoe UI"/>
              </a:rPr>
              <a:t>Nunca invente resultados: o relatório é lido do arquivo gerado pelo pytest.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10 — PLANO E RELATÓRIO DE TESTES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Caso de teste: resultado esperado × obtido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881360" cy="411480"/>
          </a:xfrm>
          <a:prstGeom prst="rect">
            <a:avLst/>
          </a:prstGeom>
          <a:solidFill>
            <a:srgbClr val="334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106070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tests/test_alert_service.py (trecho)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10607040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E6EDF3"/>
                </a:solidFill>
                <a:latin typeface="Consolas"/>
              </a:rPr>
              <a:t>def test_validity_and_expiration(session, inmet_payload):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onsolas"/>
              </a:rPr>
              <a:t>    alerts = _alerts(session, inmet_payload)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onsolas"/>
              </a:rPr>
              <a:t>    today = alerts["56124"]  # 21/10 00:01 a 23:59 (Brasília)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onsolas"/>
              </a:rPr>
              <a:t>    future = alerts["56134"]  # 24/10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onsolas"/>
              </a:rPr>
              <a:t>    assert validity_status(today, NOW) == VALIDITY_CURRENT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onsolas"/>
              </a:rPr>
              <a:t>    assert validity_status(future, NOW) == VALIDITY_FUTURE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onsolas"/>
              </a:rPr>
              <a:t>    after = datetime(2026, 10, 22, 3, 0)  # 22/10 00:00 Brasília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onsolas"/>
              </a:rPr>
              <a:t>    assert is_expired(today, after)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onsolas"/>
              </a:rPr>
              <a:t>    assert validity_status(today, after) == VALIDITY_EXPIRED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onsolas"/>
              </a:rPr>
              <a:t>    assert not is_expired(future, after)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10 — PLANO E RELATÓRIO DE TESTES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Erros comuns e exercício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303520" cy="502920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Erros comuns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Testar só o caminho feliz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Relatório com resultados "de memória"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Teste que depende da internet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Defeito corrigido sem registro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Exercício rápido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Escreva 3 casos de teste para "limite de rajada ≥ 60 km/h"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Diferencie resultado esperado e resultado obtido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337560"/>
            <a:ext cx="2011680" cy="91440"/>
          </a:xfrm>
          <a:prstGeom prst="rect">
            <a:avLst/>
          </a:prstGeom>
          <a:solidFill>
            <a:srgbClr val="F1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C232"/>
                </a:solidFill>
                <a:latin typeface="Segoe UI"/>
              </a:rPr>
              <a:t>Módulo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Matriz de rastreabilidade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Do requisito ao teste, passando por regras, casos de uso e código.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EAF1F8"/>
                </a:solidFill>
                <a:latin typeface="Segoe UI"/>
              </a:rPr>
              <a:t>ClimaAlerta — Documentação técnica de software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11 — MATRIZ DE RASTREABILIDADE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Ficha do documento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3210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Aspecto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Resposta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Definição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Tabela que liga requisitos a regras, casos de uso, módulos, dados e testes.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Finalidade prática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Provar que tudo foi implementado e testado; avaliar o impacto de mudanças.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Quando é elaborado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Construída ao longo do projeto; conferida antes de cada entrega.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Quem utiliza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Professor/avaliador, gerente e equipe.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11 — MATRIZ DE RASTREABILIDADE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Exemplo real (calculado a partir dos testes)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1554480"/>
                <a:gridCol w="4023360"/>
                <a:gridCol w="2286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Segoe UI"/>
                        </a:rPr>
                        <a:t>Requisito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Segoe UI"/>
                        </a:rPr>
                        <a:t>Regras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Segoe UI"/>
                        </a:rPr>
                        <a:t>Caso de uso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Segoe UI"/>
                        </a:rPr>
                        <a:t>Teste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Segoe UI"/>
                        </a:rPr>
                        <a:t>Situação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900">
                          <a:solidFill>
                            <a:srgbClr val="1F2D3D"/>
                          </a:solidFill>
                          <a:latin typeface="Segoe UI"/>
                        </a:rPr>
                        <a:t>RF008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>
                          <a:solidFill>
                            <a:srgbClr val="1F2D3D"/>
                          </a:solidFill>
                          <a:latin typeface="Segoe UI"/>
                        </a:rPr>
                        <a:t>RN006, RN009, RN014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>
                          <a:solidFill>
                            <a:srgbClr val="1F2D3D"/>
                          </a:solidFill>
                          <a:latin typeface="Segoe UI"/>
                        </a:rPr>
                        <a:t>UC07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>
                          <a:solidFill>
                            <a:srgbClr val="1F2D3D"/>
                          </a:solidFill>
                          <a:latin typeface="Segoe UI"/>
                        </a:rPr>
                        <a:t>test_inmet::test_parse_real_sample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>
                          <a:solidFill>
                            <a:srgbClr val="1F2D3D"/>
                          </a:solidFill>
                          <a:latin typeface="Segoe UI"/>
                        </a:rPr>
                        <a:t>Implementado e testado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900">
                          <a:solidFill>
                            <a:srgbClr val="1F2D3D"/>
                          </a:solidFill>
                          <a:latin typeface="Segoe UI"/>
                        </a:rPr>
                        <a:t>RF014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>
                          <a:solidFill>
                            <a:srgbClr val="1F2D3D"/>
                          </a:solidFill>
                          <a:latin typeface="Segoe UI"/>
                        </a:rPr>
                        <a:t>RN011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>
                          <a:solidFill>
                            <a:srgbClr val="1F2D3D"/>
                          </a:solidFill>
                          <a:latin typeface="Segoe UI"/>
                        </a:rPr>
                        <a:t>UC09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>
                          <a:solidFill>
                            <a:srgbClr val="1F2D3D"/>
                          </a:solidFill>
                          <a:latin typeface="Segoe UI"/>
                        </a:rPr>
                        <a:t>test_export::test_csv_format_is_excel_friendly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>
                          <a:solidFill>
                            <a:srgbClr val="1F2D3D"/>
                          </a:solidFill>
                          <a:latin typeface="Segoe UI"/>
                        </a:rPr>
                        <a:t>Implementado e testado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900">
                          <a:solidFill>
                            <a:srgbClr val="1F2D3D"/>
                          </a:solidFill>
                          <a:latin typeface="Segoe UI"/>
                        </a:rPr>
                        <a:t>RNF013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>
                          <a:solidFill>
                            <a:srgbClr val="1F2D3D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>
                          <a:solidFill>
                            <a:srgbClr val="1F2D3D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>
                          <a:solidFill>
                            <a:srgbClr val="1F2D3D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>
                          <a:solidFill>
                            <a:srgbClr val="1F2D3D"/>
                          </a:solidFill>
                          <a:latin typeface="Segoe UI"/>
                        </a:rPr>
                        <a:t>Sem teste automatizado — Parcial: verificado apenas no Windows nesta entrega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5760720"/>
            <a:ext cx="10881360" cy="56692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760720"/>
            <a:ext cx="91440" cy="5669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797296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>
                <a:solidFill>
                  <a:srgbClr val="1F2D3D"/>
                </a:solidFill>
                <a:latin typeface="Segoe UI"/>
              </a:rPr>
              <a:t>RNF013 aparece sem teste: a matriz revela lacunas honestamente.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11 — MATRIZ DE RASTREABILIDADE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Erros comuns e exercício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303520" cy="502920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Erros comuns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Matriz preenchida à mão e desatualizada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Referência a teste que não existe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Requisitos sem teste escondidos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Não incluir requisitos não funcionais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Exercício rápido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Encontre na matriz o teste do RF014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Qual requisito não tem teste automatizado? Por quê?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337560"/>
            <a:ext cx="2011680" cy="91440"/>
          </a:xfrm>
          <a:prstGeom prst="rect">
            <a:avLst/>
          </a:prstGeom>
          <a:solidFill>
            <a:srgbClr val="F1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C232"/>
                </a:solidFill>
                <a:latin typeface="Segoe UI"/>
              </a:rPr>
              <a:t>Módulo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Implantação e operação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Como instalar, configurar, executar, monitorar e recuperar.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EAF1F8"/>
                </a:solidFill>
                <a:latin typeface="Segoe UI"/>
              </a:rPr>
              <a:t>ClimaAlerta — Documentação técnica de software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12 — IMPLANTAÇÃO E OPERAÇÃO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Ficha do documento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3210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Aspecto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Resposta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Definição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Guia operacional do sistema em funcionamento.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Finalidade prática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Permitir que qualquer pessoa instale e mantenha o sistema rodando.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Quando é elaborado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Antes da primeira instalação; atualizado a cada mudança operacional.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Quem utiliza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Técnicos, professores e operadores.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12 — IMPLANTAÇÃO E OPERAÇÃO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Exemplo: comandos documentados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solidFill>
            <a:srgbClr val="334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106070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PowerShell — pasta raiz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691640"/>
            <a:ext cx="10881360" cy="1664207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10607040" cy="1618487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E6EDF3"/>
                </a:solidFill>
                <a:latin typeface="Consolas"/>
              </a:rPr>
              <a:t>py -m venv .venv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onsolas"/>
              </a:rPr>
              <a:t>.\.venv\Scripts\Activate.ps1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onsolas"/>
              </a:rPr>
              <a:t>python -m pip install -r requirements.txt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onsolas"/>
              </a:rPr>
              <a:t>python scripts/inicializar_banco.py</a:t>
            </a:r>
          </a:p>
          <a:p>
            <a:pPr algn="l"/>
            <a:r>
              <a:rPr sz="1800" b="0">
                <a:solidFill>
                  <a:srgbClr val="E6EDF3"/>
                </a:solidFill>
                <a:latin typeface="Consolas"/>
              </a:rPr>
              <a:t>streamlit run app.py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93007"/>
            <a:ext cx="10881360" cy="365760"/>
          </a:xfrm>
          <a:prstGeom prst="rect">
            <a:avLst/>
          </a:prstGeom>
          <a:solidFill>
            <a:srgbClr val="334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493007"/>
            <a:ext cx="1060704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Backup (Bash)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58768"/>
            <a:ext cx="10881360" cy="347472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04487"/>
            <a:ext cx="10607040" cy="3017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E6EDF3"/>
                </a:solidFill>
                <a:latin typeface="Consolas"/>
              </a:rPr>
              <a:t>cp data/climaalerta.db "backups/climaalerta_$(date +%Y%m%d_%H%M).db"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760720"/>
            <a:ext cx="10881360" cy="56692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5760720"/>
            <a:ext cx="91440" cy="5669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797296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>
                <a:solidFill>
                  <a:srgbClr val="1F2D3D"/>
                </a:solidFill>
                <a:latin typeface="Segoe UI"/>
              </a:rPr>
              <a:t>Cada comando informa o terminal, a pasta de execução e o resultado esperado.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12 — IMPLANTAÇÃO E OPERAÇÃO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Estrutura mínima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Pré-requisitos e instalação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Configuração (variáveis, arquivos)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Execução e coletas/rotinas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b="1" sz="2400">
                <a:solidFill>
                  <a:srgbClr val="1F2D3D"/>
                </a:solidFill>
                <a:latin typeface="Segoe UI"/>
              </a:rPr>
              <a:t>Logs</a:t>
            </a:r>
            <a:r>
              <a:rPr sz="2400">
                <a:solidFill>
                  <a:srgbClr val="1F2D3D"/>
                </a:solidFill>
                <a:latin typeface="Segoe UI"/>
              </a:rPr>
              <a:t> e </a:t>
            </a:r>
            <a:r>
              <a:rPr b="1" sz="2400">
                <a:solidFill>
                  <a:srgbClr val="1F2D3D"/>
                </a:solidFill>
                <a:latin typeface="Segoe UI"/>
              </a:rPr>
              <a:t>diagnóstico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b="1" sz="2400">
                <a:solidFill>
                  <a:srgbClr val="1F2D3D"/>
                </a:solidFill>
                <a:latin typeface="Segoe UI"/>
              </a:rPr>
              <a:t>Backup</a:t>
            </a:r>
            <a:r>
              <a:rPr sz="2400">
                <a:solidFill>
                  <a:srgbClr val="1F2D3D"/>
                </a:solidFill>
                <a:latin typeface="Segoe UI"/>
              </a:rPr>
              <a:t> e </a:t>
            </a:r>
            <a:r>
              <a:rPr b="1" sz="2400">
                <a:solidFill>
                  <a:srgbClr val="1F2D3D"/>
                </a:solidFill>
                <a:latin typeface="Segoe UI"/>
              </a:rPr>
              <a:t>recuperação de falhas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Atualização de dependências e limitações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12 — IMPLANTAÇÃO E OPERAÇÃO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Erros comuns e exercício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303520" cy="502920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Erros comuns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Omitir a pasta onde executar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Só comandos de um sistema operacional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Sem procedimento de backup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Não dizer o resultado esperado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Exercício rápido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Escreva o passo a passo para restaurar um backup do banco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Que sintoma indica que os dados estão desatualizados?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337560"/>
            <a:ext cx="2011680" cy="91440"/>
          </a:xfrm>
          <a:prstGeom prst="rect">
            <a:avLst/>
          </a:prstGeom>
          <a:solidFill>
            <a:srgbClr val="F1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C232"/>
                </a:solidFill>
                <a:latin typeface="Segoe UI"/>
              </a:rPr>
              <a:t>Módulo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Segurança e limitações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Proteções, privacidade, dependências externas e riscos.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EAF1F8"/>
                </a:solidFill>
                <a:latin typeface="Segoe UI"/>
              </a:rPr>
              <a:t>ClimaAlerta — Documentação técnica de software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13 — SEGURANÇA E LIMITAÇÕES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Ficha do documento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3210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Aspecto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Resposta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Definição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Registro das medidas de segurança, dos limites do sistema e dos riscos conhecidos.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Finalidade prática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Evitar uso indevido, proteger dados e deixar claro o que o sistema não faz.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Quando é elaborado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Desde o início; revisado a cada nova integração ou dado sensível.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Quem utiliza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Gestores, desenvolvedores e usuários.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13 — SEGURANÇA E LIMITAÇÕES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Exemplos no ClimaAlerta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303520" cy="502920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Proteções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Validação de entradas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Sem credenciais no código (</a:t>
            </a:r>
            <a:r>
              <a:rPr sz="2100">
                <a:solidFill>
                  <a:srgbClr val="1F2D3D"/>
                </a:solidFill>
                <a:latin typeface="Consolas"/>
              </a:rPr>
              <a:t>.env</a:t>
            </a:r>
            <a:r>
              <a:rPr sz="2100">
                <a:solidFill>
                  <a:srgbClr val="1F2D3D"/>
                </a:solidFill>
                <a:latin typeface="Segoe UI"/>
              </a:rPr>
              <a:t>)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Sem </a:t>
            </a:r>
            <a:r>
              <a:rPr sz="2100">
                <a:solidFill>
                  <a:srgbClr val="1F2D3D"/>
                </a:solidFill>
                <a:latin typeface="Consolas"/>
              </a:rPr>
              <a:t>eval</a:t>
            </a:r>
            <a:r>
              <a:rPr sz="2100">
                <a:solidFill>
                  <a:srgbClr val="1F2D3D"/>
                </a:solidFill>
                <a:latin typeface="Segoe UI"/>
              </a:rPr>
              <a:t>; SQL parametrizado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Timeouts e retentativas limitadas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Limitações declaradas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Previsões são estimativas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Endpoint do INMET sem documentação formal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Selenium depende do HTML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Indicadores ≠ alertas oficiais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13 — SEGURANÇA E LIMITAÇÕES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Registro de riscos (trecho real)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463040"/>
                <a:gridCol w="48463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Risco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Impacto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Mitigação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Indicador interpretado como alerta oficial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Alto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Seções separadas e rótulo "não oficial"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Mudança no formato da API do INMET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Médio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Validação estrutural; falha registrada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Excesso de requisições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Médio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Intervalo mínimo de 15 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13 — SEGURANÇA E LIMITAÇÕES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Erros comuns e exercício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303520" cy="502920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Erros comuns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Esconder limitações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Chaves de API no código-fonte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Ignorar LGPD ao coletar dados pessoais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Risco sem mitigação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Exercício rápido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O ClimaAlerta coleta dados pessoais? Justifique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Proponha um risco novo e sua mitigação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337560"/>
            <a:ext cx="2011680" cy="91440"/>
          </a:xfrm>
          <a:prstGeom prst="rect">
            <a:avLst/>
          </a:prstGeom>
          <a:solidFill>
            <a:srgbClr val="F1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C232"/>
                </a:solidFill>
                <a:latin typeface="Segoe UI"/>
              </a:rPr>
              <a:t>Módulo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Manual técnico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Guia para quem vai manter e estender o código.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EAF1F8"/>
                </a:solidFill>
                <a:latin typeface="Segoe UI"/>
              </a:rPr>
              <a:t>ClimaAlerta — Documentação técnica de software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14 — MANUAL TÉCNICO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Ficha do documento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3210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Aspecto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Resposta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Definição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Descrição da estrutura, módulos, classes, funções, interfaces e convenções do código.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Finalidade prática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Acelerar a manutenção e permitir extensões seguras.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Quando é elaborado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Durante e após a implementação; atualizado junto com o código.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Quem utiliza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Desenvolvedores (atuais e futuros).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14 — MANUAL TÉCNICO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Exemplo: interface entre módulos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881360" cy="411480"/>
          </a:xfrm>
          <a:prstGeom prst="rect">
            <a:avLst/>
          </a:prstGeom>
          <a:solidFill>
            <a:srgbClr val="334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106070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src/integrations/open_meteo.py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10881360" cy="3977640"/>
          </a:xfrm>
          <a:prstGeom prst="rect">
            <a:avLst/>
          </a:prstGeom>
          <a:solidFill>
            <a:srgbClr val="1E2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10607040" cy="3840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48" b="0">
                <a:solidFill>
                  <a:srgbClr val="E6EDF3"/>
                </a:solidFill>
                <a:latin typeface="Consolas"/>
              </a:rPr>
              <a:t>class OpenMeteoClient:</a:t>
            </a:r>
          </a:p>
          <a:p>
            <a:pPr algn="l"/>
            <a:r>
              <a:rPr sz="1248" b="0">
                <a:solidFill>
                  <a:srgbClr val="E6EDF3"/>
                </a:solidFill>
                <a:latin typeface="Consolas"/>
              </a:rPr>
              <a:t>    def __init__(self, http: HttpClient, base_url: str = "https://api.open-meteo.com/v1/forecast") -&gt; None:</a:t>
            </a:r>
          </a:p>
          <a:p>
            <a:pPr algn="l"/>
            <a:r>
              <a:rPr sz="1248" b="0">
                <a:solidFill>
                  <a:srgbClr val="E6EDF3"/>
                </a:solidFill>
                <a:latin typeface="Consolas"/>
              </a:rPr>
              <a:t>        self.http = http</a:t>
            </a:r>
          </a:p>
          <a:p>
            <a:pPr algn="l"/>
            <a:r>
              <a:rPr sz="1248" b="0">
                <a:solidFill>
                  <a:srgbClr val="E6EDF3"/>
                </a:solidFill>
                <a:latin typeface="Consolas"/>
              </a:rPr>
              <a:t>        self.base_url = base_url</a:t>
            </a:r>
          </a:p>
          <a:p>
            <a:pPr algn="l"/>
            <a:r>
              <a:rPr sz="1248" b="0">
                <a:solidFill>
                  <a:srgbClr val="E6EDF3"/>
                </a:solidFill>
                <a:latin typeface="Consolas"/>
              </a:rPr>
              <a:t/>
            </a:r>
          </a:p>
          <a:p>
            <a:pPr algn="l"/>
            <a:r>
              <a:rPr sz="1248" b="0">
                <a:solidFill>
                  <a:srgbClr val="E6EDF3"/>
                </a:solidFill>
                <a:latin typeface="Consolas"/>
              </a:rPr>
              <a:t>    def fetch_forecast(</a:t>
            </a:r>
          </a:p>
          <a:p>
            <a:pPr algn="l"/>
            <a:r>
              <a:rPr sz="1248" b="0">
                <a:solidFill>
                  <a:srgbClr val="E6EDF3"/>
                </a:solidFill>
                <a:latin typeface="Consolas"/>
              </a:rPr>
              <a:t>        self, latitude: float, longitude: float, forecast_days: int = 7, timezone: str = "America/Sao_Paulo"</a:t>
            </a:r>
          </a:p>
          <a:p>
            <a:pPr algn="l"/>
            <a:r>
              <a:rPr sz="1248" b="0">
                <a:solidFill>
                  <a:srgbClr val="E6EDF3"/>
                </a:solidFill>
                <a:latin typeface="Consolas"/>
              </a:rPr>
              <a:t>    ) -&gt; ForecastBundle:</a:t>
            </a:r>
          </a:p>
          <a:p>
            <a:pPr algn="l"/>
            <a:r>
              <a:rPr sz="1248" b="0">
                <a:solidFill>
                  <a:srgbClr val="E6EDF3"/>
                </a:solidFill>
                <a:latin typeface="Consolas"/>
              </a:rPr>
              <a:t>        logger.info("Consultando Open-Meteo para (%.4f, %.4f)", latitude, longitude)</a:t>
            </a:r>
          </a:p>
          <a:p>
            <a:pPr algn="l"/>
            <a:r>
              <a:rPr sz="1248" b="0">
                <a:solidFill>
                  <a:srgbClr val="E6EDF3"/>
                </a:solidFill>
                <a:latin typeface="Consolas"/>
              </a:rPr>
              <a:t>        payload = self.http.get_json(self.base_url, build_params(latitude, longitude, forecast_days, timezone))</a:t>
            </a:r>
          </a:p>
          <a:p>
            <a:pPr algn="l"/>
            <a:r>
              <a:rPr sz="1248" b="0">
                <a:solidFill>
                  <a:srgbClr val="E6EDF3"/>
                </a:solidFill>
                <a:latin typeface="Consolas"/>
              </a:rPr>
              <a:t>        bundle = parse_forecast(payload)</a:t>
            </a:r>
          </a:p>
          <a:p>
            <a:pPr algn="l"/>
            <a:r>
              <a:rPr sz="1248" b="0">
                <a:solidFill>
                  <a:srgbClr val="E6EDF3"/>
                </a:solidFill>
                <a:latin typeface="Consolas"/>
              </a:rPr>
              <a:t>        if bundle.current is not None:</a:t>
            </a:r>
          </a:p>
          <a:p>
            <a:pPr algn="l"/>
            <a:r>
              <a:rPr sz="1248" b="0">
                <a:solidFill>
                  <a:srgbClr val="E6EDF3"/>
                </a:solidFill>
                <a:latin typeface="Consolas"/>
              </a:rPr>
              <a:t>            bundle.current["precipitation_probability"] = current_hour_probability(bundle)</a:t>
            </a:r>
          </a:p>
          <a:p>
            <a:pPr algn="l"/>
            <a:r>
              <a:rPr sz="1248" b="0">
                <a:solidFill>
                  <a:srgbClr val="E6EDF3"/>
                </a:solidFill>
                <a:latin typeface="Consolas"/>
              </a:rPr>
              <a:t>        return bundle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760720"/>
            <a:ext cx="10881360" cy="56692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760720"/>
            <a:ext cx="91440" cy="5669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797296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>
                <a:solidFill>
                  <a:srgbClr val="1F2D3D"/>
                </a:solidFill>
                <a:latin typeface="Segoe UI"/>
              </a:rPr>
              <a:t>Entrada: coordenadas · Saída: </a:t>
            </a:r>
            <a:r>
              <a:rPr sz="1700">
                <a:solidFill>
                  <a:srgbClr val="1F2D3D"/>
                </a:solidFill>
                <a:latin typeface="Consolas"/>
              </a:rPr>
              <a:t>ForecastBundle</a:t>
            </a:r>
            <a:r>
              <a:rPr sz="1700">
                <a:solidFill>
                  <a:srgbClr val="1F2D3D"/>
                </a:solidFill>
                <a:latin typeface="Segoe UI"/>
              </a:rPr>
              <a:t> (UTC) · Erros: </a:t>
            </a:r>
            <a:r>
              <a:rPr sz="1700">
                <a:solidFill>
                  <a:srgbClr val="1F2D3D"/>
                </a:solidFill>
                <a:latin typeface="Consolas"/>
              </a:rPr>
              <a:t>SourceUnavailableError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14 — MANUAL TÉCNICO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Estrutura mínima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Estrutura de arquivos e responsabilidades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Classes e funções importantes (com assinaturas)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Interfaces entre módulos (entradas, saídas, erros)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Configurações e convenções de código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Procedimentos de extensão (ex.: novo indicador IND08)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14 — MANUAL TÉCNICO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Erros comuns e exercício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303520" cy="502920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Erros comuns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Copiar o código inteiro no manual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Não explicar convenções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Sem exemplos de chamada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Desatualizado após refatorações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Exercício rápido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Descreva a interface de </a:t>
            </a:r>
            <a:r>
              <a:rPr sz="2100">
                <a:solidFill>
                  <a:srgbClr val="1F2D3D"/>
                </a:solidFill>
                <a:latin typeface="Consolas"/>
              </a:rPr>
              <a:t>collect_alerts</a:t>
            </a:r>
            <a:r>
              <a:rPr sz="2100">
                <a:solidFill>
                  <a:srgbClr val="1F2D3D"/>
                </a:solidFill>
                <a:latin typeface="Segoe UI"/>
              </a:rPr>
              <a:t> (entrada, saída, erros)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Liste os passos para criar uma nova página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337560"/>
            <a:ext cx="2011680" cy="91440"/>
          </a:xfrm>
          <a:prstGeom prst="rect">
            <a:avLst/>
          </a:prstGeom>
          <a:solidFill>
            <a:srgbClr val="F1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C232"/>
                </a:solidFill>
                <a:latin typeface="Segoe UI"/>
              </a:rPr>
              <a:t>Módulo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Manual do usuário e manual pedagógico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Instruções para usar × material para aprender.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EAF1F8"/>
                </a:solidFill>
                <a:latin typeface="Segoe UI"/>
              </a:rPr>
              <a:t>ClimaAlerta — Documentação técnica de software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15 — MANUAL DO USUÁRIO E MANUAL PEDAGÓGICO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Diferenças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51960"/>
                <a:gridCol w="42519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Aspecto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Manual do usuário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Manual pedagógico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Objetivo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Usar o sistema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Aprender a construir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Público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Usuário final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Alunos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Conteúdo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Telas, tarefas, mensagens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Conceitos, código, exercícios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Formato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Tarefa → passos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Objetivo → prática → verificação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15 — MANUAL DO USUÁRIO E MANUAL PEDAGÓGICO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Como escrever um tutorial reproduzível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8813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Informar </a:t>
            </a:r>
            <a:r>
              <a:rPr b="1" sz="2400">
                <a:solidFill>
                  <a:srgbClr val="1F2D3D"/>
                </a:solidFill>
                <a:latin typeface="Segoe UI"/>
              </a:rPr>
              <a:t>terminal</a:t>
            </a:r>
            <a:r>
              <a:rPr sz="2400">
                <a:solidFill>
                  <a:srgbClr val="1F2D3D"/>
                </a:solidFill>
                <a:latin typeface="Segoe UI"/>
              </a:rPr>
              <a:t>, </a:t>
            </a:r>
            <a:r>
              <a:rPr b="1" sz="2400">
                <a:solidFill>
                  <a:srgbClr val="1F2D3D"/>
                </a:solidFill>
                <a:latin typeface="Segoe UI"/>
              </a:rPr>
              <a:t>pasta</a:t>
            </a:r>
            <a:r>
              <a:rPr sz="2400">
                <a:solidFill>
                  <a:srgbClr val="1F2D3D"/>
                </a:solidFill>
                <a:latin typeface="Segoe UI"/>
              </a:rPr>
              <a:t> e </a:t>
            </a:r>
            <a:r>
              <a:rPr b="1" sz="2400">
                <a:solidFill>
                  <a:srgbClr val="1F2D3D"/>
                </a:solidFill>
                <a:latin typeface="Segoe UI"/>
              </a:rPr>
              <a:t>pré-requisitos</a:t>
            </a:r>
            <a:r>
              <a:rPr sz="2400">
                <a:solidFill>
                  <a:srgbClr val="1F2D3D"/>
                </a:solidFill>
                <a:latin typeface="Segoe UI"/>
              </a:rPr>
              <a:t> de cada passo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Comandos </a:t>
            </a:r>
            <a:r>
              <a:rPr b="1" sz="2400">
                <a:solidFill>
                  <a:srgbClr val="1F2D3D"/>
                </a:solidFill>
                <a:latin typeface="Segoe UI"/>
              </a:rPr>
              <a:t>copiáveis</a:t>
            </a:r>
            <a:r>
              <a:rPr sz="2400">
                <a:solidFill>
                  <a:srgbClr val="1F2D3D"/>
                </a:solidFill>
                <a:latin typeface="Segoe UI"/>
              </a:rPr>
              <a:t>, em ordem lógica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Nunca usar arquivo que ainda não foi criado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Mostrar o </a:t>
            </a:r>
            <a:r>
              <a:rPr b="1" sz="2400">
                <a:solidFill>
                  <a:srgbClr val="1F2D3D"/>
                </a:solidFill>
                <a:latin typeface="Segoe UI"/>
              </a:rPr>
              <a:t>resultado esperado</a:t>
            </a:r>
            <a:r>
              <a:rPr sz="2400">
                <a:solidFill>
                  <a:srgbClr val="1F2D3D"/>
                </a:solidFill>
                <a:latin typeface="Segoe UI"/>
              </a:rPr>
              <a:t> (saída real)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Oferecer </a:t>
            </a:r>
            <a:r>
              <a:rPr b="1" sz="2400">
                <a:solidFill>
                  <a:srgbClr val="1F2D3D"/>
                </a:solidFill>
                <a:latin typeface="Segoe UI"/>
              </a:rPr>
              <a:t>verificação</a:t>
            </a:r>
            <a:r>
              <a:rPr sz="2400">
                <a:solidFill>
                  <a:srgbClr val="1F2D3D"/>
                </a:solidFill>
                <a:latin typeface="Segoe UI"/>
              </a:rPr>
              <a:t> objetiva (teste automático)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Erros frequentes, exercícios e desafios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760720"/>
            <a:ext cx="10881360" cy="56692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760720"/>
            <a:ext cx="91440" cy="5669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797296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>
                <a:solidFill>
                  <a:srgbClr val="1F2D3D"/>
                </a:solidFill>
                <a:latin typeface="Segoe UI"/>
              </a:rPr>
              <a:t>O código do manual do ClimaAlerta é testado: tests/test_tutorial.py.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15 — MANUAL DO USUÁRIO E MANUAL PEDAGÓGICO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Erros comuns e exercício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303520" cy="502920"/>
          </a:xfrm>
          <a:prstGeom prst="rect">
            <a:avLst/>
          </a:prstGeom>
          <a:solidFill>
            <a:srgbClr val="3D8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Erros comuns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Pular etapas "óbvias"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Comandos só para Windows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Resultado esperado inventado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Exercícios sem relação com o conteúdo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03520" cy="50292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502920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Exercício rápido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11680"/>
            <a:ext cx="53035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Escreva um mini tutorial de 4 passos para executar a dashboard de exemplo</a:t>
            </a:r>
          </a:p>
          <a:p>
            <a:pPr>
              <a:spcAft>
                <a:spcPts val="735"/>
              </a:spcAft>
            </a:pPr>
            <a:r>
              <a:rPr sz="2100">
                <a:solidFill>
                  <a:srgbClr val="3D85C6"/>
                </a:solidFill>
                <a:latin typeface="Segoe UI"/>
              </a:rPr>
              <a:t>• </a:t>
            </a:r>
            <a:r>
              <a:rPr sz="2100">
                <a:solidFill>
                  <a:srgbClr val="1F2D3D"/>
                </a:solidFill>
                <a:latin typeface="Segoe UI"/>
              </a:rPr>
              <a:t>Que verificação objetiva você usaria?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337560"/>
            <a:ext cx="2011680" cy="91440"/>
          </a:xfrm>
          <a:prstGeom prst="rect">
            <a:avLst/>
          </a:prstGeom>
          <a:solidFill>
            <a:srgbClr val="F1C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C232"/>
                </a:solidFill>
                <a:latin typeface="Segoe UI"/>
              </a:rPr>
              <a:t>Módulo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Integração documental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Como os documentos se complementam sem se contradizer.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EAF1F8"/>
                </a:solidFill>
                <a:latin typeface="Segoe UI"/>
              </a:rPr>
              <a:t>ClimaAlerta — Documentação técnica de software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16 — INTEGRAÇÃO DOCUMENTAL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O que cada grupo de documentos descreve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1381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Descreve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Documentos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Necessidades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Requisitos, regras de negócio, casos de uso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Processos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BPMN, fluxogramas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Dados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Dicionário de dados, modelo 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Arquitetura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Arquitetura, manual técnico, implantação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Qualidade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Plano/relatório de testes, matriz, segurança e limitações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MÓDULO 16 — INTEGRAÇÃO DOCUMENTAL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Como evitar contradições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8813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b="1" sz="2400">
                <a:solidFill>
                  <a:srgbClr val="1F2D3D"/>
                </a:solidFill>
                <a:latin typeface="Segoe UI"/>
              </a:rPr>
              <a:t>Identificadores únicos</a:t>
            </a:r>
            <a:r>
              <a:rPr sz="2400">
                <a:solidFill>
                  <a:srgbClr val="1F2D3D"/>
                </a:solidFill>
                <a:latin typeface="Segoe UI"/>
              </a:rPr>
              <a:t> reutilizados em todos os documentos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b="1" sz="2400">
                <a:solidFill>
                  <a:srgbClr val="1F2D3D"/>
                </a:solidFill>
                <a:latin typeface="Segoe UI"/>
              </a:rPr>
              <a:t>Fonte única</a:t>
            </a:r>
            <a:r>
              <a:rPr sz="2400">
                <a:solidFill>
                  <a:srgbClr val="1F2D3D"/>
                </a:solidFill>
                <a:latin typeface="Segoe UI"/>
              </a:rPr>
              <a:t> da especificação (</a:t>
            </a:r>
            <a:r>
              <a:rPr sz="2400">
                <a:solidFill>
                  <a:srgbClr val="1F2D3D"/>
                </a:solidFill>
                <a:latin typeface="Consolas"/>
              </a:rPr>
              <a:t>especificacao.py</a:t>
            </a:r>
            <a:r>
              <a:rPr sz="2400">
                <a:solidFill>
                  <a:srgbClr val="1F2D3D"/>
                </a:solidFill>
                <a:latin typeface="Segoe UI"/>
              </a:rPr>
              <a:t>)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Gerar tabelas e diagramas </a:t>
            </a:r>
            <a:r>
              <a:rPr b="1" sz="2400">
                <a:solidFill>
                  <a:srgbClr val="1F2D3D"/>
                </a:solidFill>
                <a:latin typeface="Segoe UI"/>
              </a:rPr>
              <a:t>a partir do código real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Resultados de testes </a:t>
            </a:r>
            <a:r>
              <a:rPr b="1" sz="2400">
                <a:solidFill>
                  <a:srgbClr val="1F2D3D"/>
                </a:solidFill>
                <a:latin typeface="Segoe UI"/>
              </a:rPr>
              <a:t>lidos do pytest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b="1" sz="2400">
                <a:solidFill>
                  <a:srgbClr val="1F2D3D"/>
                </a:solidFill>
                <a:latin typeface="Segoe UI"/>
              </a:rPr>
              <a:t>Validação automática</a:t>
            </a:r>
            <a:r>
              <a:rPr sz="2400">
                <a:solidFill>
                  <a:srgbClr val="1F2D3D"/>
                </a:solidFill>
                <a:latin typeface="Segoe UI"/>
              </a:rPr>
              <a:t> antes da entrega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Revisar a documentação a cada mudança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760720"/>
            <a:ext cx="10881360" cy="56692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5760720"/>
            <a:ext cx="91440" cy="5669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797296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>
                <a:solidFill>
                  <a:srgbClr val="1F2D3D"/>
                </a:solidFill>
                <a:latin typeface="Segoe UI"/>
              </a:rPr>
              <a:t>A documentação precisa corresponder ao software real — senão ela engana quem a lê.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REVISÃO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Revisão (1/2): documento, finalidade e conteúdo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291840"/>
                <a:gridCol w="46634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Documento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Finalidade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Conteúdo principal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Requisitos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Definir o que fazer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RF, RNF, critérios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Regras de negócio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Decidir corretamente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Condição, resultado, exceções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Casos de uso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Descrever o uso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Atores, fluxos, exceções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Arquitetura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Organizar o sistema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Camadas, componentes, implantação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BPMN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Modelar processos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Eventos, tarefas, gateways, raias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Fluxograma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Explicar algoritmos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Passos e decisões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Dicionário de dados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Explicar campos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Tipos, chaves, restrições, origem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REVISÃO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Revisão (2/2): documento, finalidade e conteúdo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291840"/>
                <a:gridCol w="46634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Segoe UI"/>
                        </a:rPr>
                        <a:t>Documento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Segoe UI"/>
                        </a:rPr>
                        <a:t>Finalidade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Segoe UI"/>
                        </a:rPr>
                        <a:t>Conteúdo principal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900">
                          <a:solidFill>
                            <a:srgbClr val="1F2D3D"/>
                          </a:solidFill>
                          <a:latin typeface="Segoe UI"/>
                        </a:rPr>
                        <a:t>Modelo 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>
                          <a:solidFill>
                            <a:srgbClr val="1F2D3D"/>
                          </a:solidFill>
                          <a:latin typeface="Segoe UI"/>
                        </a:rPr>
                        <a:t>Projetar o banco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>
                          <a:solidFill>
                            <a:srgbClr val="1F2D3D"/>
                          </a:solidFill>
                          <a:latin typeface="Segoe UI"/>
                        </a:rPr>
                        <a:t>Entidades, relacionamentos, cardinalidade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900">
                          <a:solidFill>
                            <a:srgbClr val="1F2D3D"/>
                          </a:solidFill>
                          <a:latin typeface="Segoe UI"/>
                        </a:rPr>
                        <a:t>Testes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>
                          <a:solidFill>
                            <a:srgbClr val="1F2D3D"/>
                          </a:solidFill>
                          <a:latin typeface="Segoe UI"/>
                        </a:rPr>
                        <a:t>Comprovar qualidade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>
                          <a:solidFill>
                            <a:srgbClr val="1F2D3D"/>
                          </a:solidFill>
                          <a:latin typeface="Segoe UI"/>
                        </a:rPr>
                        <a:t>Estratégia, casos, resultados reais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900">
                          <a:solidFill>
                            <a:srgbClr val="1F2D3D"/>
                          </a:solidFill>
                          <a:latin typeface="Segoe UI"/>
                        </a:rPr>
                        <a:t>Matriz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>
                          <a:solidFill>
                            <a:srgbClr val="1F2D3D"/>
                          </a:solidFill>
                          <a:latin typeface="Segoe UI"/>
                        </a:rPr>
                        <a:t>Rastrear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>
                          <a:solidFill>
                            <a:srgbClr val="1F2D3D"/>
                          </a:solidFill>
                          <a:latin typeface="Segoe UI"/>
                        </a:rPr>
                        <a:t>Requisito → regra → UC → código → teste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900">
                          <a:solidFill>
                            <a:srgbClr val="1F2D3D"/>
                          </a:solidFill>
                          <a:latin typeface="Segoe UI"/>
                        </a:rPr>
                        <a:t>Implantação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>
                          <a:solidFill>
                            <a:srgbClr val="1F2D3D"/>
                          </a:solidFill>
                          <a:latin typeface="Segoe UI"/>
                        </a:rPr>
                        <a:t>Operar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>
                          <a:solidFill>
                            <a:srgbClr val="1F2D3D"/>
                          </a:solidFill>
                          <a:latin typeface="Segoe UI"/>
                        </a:rPr>
                        <a:t>Instalação, logs, backup, recuperação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900">
                          <a:solidFill>
                            <a:srgbClr val="1F2D3D"/>
                          </a:solidFill>
                          <a:latin typeface="Segoe UI"/>
                        </a:rPr>
                        <a:t>Segurança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>
                          <a:solidFill>
                            <a:srgbClr val="1F2D3D"/>
                          </a:solidFill>
                          <a:latin typeface="Segoe UI"/>
                        </a:rPr>
                        <a:t>Proteger e limitar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>
                          <a:solidFill>
                            <a:srgbClr val="1F2D3D"/>
                          </a:solidFill>
                          <a:latin typeface="Segoe UI"/>
                        </a:rPr>
                        <a:t>Validação, LGPD, riscos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900">
                          <a:solidFill>
                            <a:srgbClr val="1F2D3D"/>
                          </a:solidFill>
                          <a:latin typeface="Segoe UI"/>
                        </a:rPr>
                        <a:t>Manual técnico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>
                          <a:solidFill>
                            <a:srgbClr val="1F2D3D"/>
                          </a:solidFill>
                          <a:latin typeface="Segoe UI"/>
                        </a:rPr>
                        <a:t>Manter e estender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>
                          <a:solidFill>
                            <a:srgbClr val="1F2D3D"/>
                          </a:solidFill>
                          <a:latin typeface="Segoe UI"/>
                        </a:rPr>
                        <a:t>Módulos, interfaces, convenções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900">
                          <a:solidFill>
                            <a:srgbClr val="1F2D3D"/>
                          </a:solidFill>
                          <a:latin typeface="Segoe UI"/>
                        </a:rPr>
                        <a:t>Manuais de usuário/pedagógico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>
                          <a:solidFill>
                            <a:srgbClr val="1F2D3D"/>
                          </a:solidFill>
                          <a:latin typeface="Segoe UI"/>
                        </a:rPr>
                        <a:t>Usar / aprender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>
                          <a:solidFill>
                            <a:srgbClr val="1F2D3D"/>
                          </a:solidFill>
                          <a:latin typeface="Segoe UI"/>
                        </a:rPr>
                        <a:t>Tarefas / tutoriais e exercícios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ATIVIDADE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Atividade final: um novo módulo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881360" cy="3611880"/>
          </a:xfrm>
          <a:prstGeom prst="rect">
            <a:avLst/>
          </a:prstGeom>
          <a:solidFill>
            <a:srgbClr val="F3E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109728" cy="361188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10424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Novo módulo do ClimaAlerta: </a:t>
            </a:r>
            <a:r>
              <a:rPr b="1" sz="2200">
                <a:solidFill>
                  <a:srgbClr val="1F2D3D"/>
                </a:solidFill>
                <a:latin typeface="Segoe UI"/>
              </a:rPr>
              <a:t>"Notificação de novos avisos oficiais por e-mail"</a:t>
            </a:r>
          </a:p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Em grupos, identifiquem </a:t>
            </a:r>
            <a:r>
              <a:rPr b="1" sz="2200">
                <a:solidFill>
                  <a:srgbClr val="1F2D3D"/>
                </a:solidFill>
                <a:latin typeface="Segoe UI"/>
              </a:rPr>
              <a:t>quais documentos</a:t>
            </a:r>
            <a:r>
              <a:rPr sz="2200">
                <a:solidFill>
                  <a:srgbClr val="1F2D3D"/>
                </a:solidFill>
                <a:latin typeface="Segoe UI"/>
              </a:rPr>
              <a:t> precisam ser criados ou alterados</a:t>
            </a:r>
          </a:p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Para cada documento, escrevam </a:t>
            </a:r>
            <a:r>
              <a:rPr b="1" sz="2200">
                <a:solidFill>
                  <a:srgbClr val="1F2D3D"/>
                </a:solidFill>
                <a:latin typeface="Segoe UI"/>
              </a:rPr>
              <a:t>um item concreto</a:t>
            </a:r>
            <a:r>
              <a:rPr sz="2200">
                <a:solidFill>
                  <a:srgbClr val="1F2D3D"/>
                </a:solidFill>
                <a:latin typeface="Segoe UI"/>
              </a:rPr>
              <a:t> (ex.: RF023, RN015, UC13, nova tabela…)</a:t>
            </a:r>
          </a:p>
          <a:p>
            <a:pPr>
              <a:spcAft>
                <a:spcPts val="769"/>
              </a:spcAft>
            </a:pPr>
            <a:r>
              <a:rPr sz="2200">
                <a:solidFill>
                  <a:srgbClr val="3D85C6"/>
                </a:solidFill>
                <a:latin typeface="Segoe UI"/>
              </a:rPr>
              <a:t>• </a:t>
            </a:r>
            <a:r>
              <a:rPr sz="2200">
                <a:solidFill>
                  <a:srgbClr val="1F2D3D"/>
                </a:solidFill>
                <a:latin typeface="Segoe UI"/>
              </a:rPr>
              <a:t>Indiquem os </a:t>
            </a:r>
            <a:r>
              <a:rPr b="1" sz="2200">
                <a:solidFill>
                  <a:srgbClr val="1F2D3D"/>
                </a:solidFill>
                <a:latin typeface="Segoe UI"/>
              </a:rPr>
              <a:t>riscos</a:t>
            </a:r>
            <a:r>
              <a:rPr sz="2200">
                <a:solidFill>
                  <a:srgbClr val="1F2D3D"/>
                </a:solidFill>
                <a:latin typeface="Segoe UI"/>
              </a:rPr>
              <a:t> (LGPD: e-mail é dado pessoal!) e os </a:t>
            </a:r>
            <a:r>
              <a:rPr b="1" sz="2200">
                <a:solidFill>
                  <a:srgbClr val="1F2D3D"/>
                </a:solidFill>
                <a:latin typeface="Segoe UI"/>
              </a:rPr>
              <a:t>testes</a:t>
            </a:r>
            <a:r>
              <a:rPr sz="2200">
                <a:solidFill>
                  <a:srgbClr val="1F2D3D"/>
                </a:solidFill>
                <a:latin typeface="Segoe UI"/>
              </a:rPr>
              <a:t> necessários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074920"/>
            <a:ext cx="10881360" cy="1234440"/>
          </a:xfrm>
          <a:prstGeom prst="rect">
            <a:avLst/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5074920"/>
            <a:ext cx="109728" cy="1234440"/>
          </a:xfrm>
          <a:prstGeom prst="rect">
            <a:avLst/>
          </a:prstGeom>
          <a:solidFill>
            <a:srgbClr val="E6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E67700"/>
                </a:solidFill>
                <a:latin typeface="Segoe UI"/>
              </a:rPr>
              <a:t>DESAFIO DE EXTENSÃO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68112"/>
            <a:ext cx="1042416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0">
                <a:solidFill>
                  <a:srgbClr val="1F2D3D"/>
                </a:solidFill>
                <a:latin typeface="Segoe UI"/>
              </a:rPr>
              <a:t>Montem a linha da matriz de rastreabilidade do novo requisito, do RF ao teste.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ATIVIDADE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Atividade final: modelo de resposta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71600"/>
          <a:ext cx="10881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91840"/>
                <a:gridCol w="48463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Documento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O que muda?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Segoe UI"/>
                        </a:rPr>
                        <a:t>Exemplo de item</a:t>
                      </a:r>
                    </a:p>
                  </a:txBody>
                  <a:tcPr marL="73152" marR="73152" marT="36576" marB="36576">
                    <a:solidFill>
                      <a:srgbClr val="0B539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Requisitos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RF023 — Notificar por e-mail …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Regras de negócio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RN015 — Enviar apenas avisos novos e vigentes …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Casos de uso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UC13 — Configurar notificações …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Dicionário / ER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Tabela de inscrições (e-mail, município)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Segurança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Consentimento e dados pessoais (LGPD)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Testes e matriz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200">
                          <a:solidFill>
                            <a:srgbClr val="1F2D3D"/>
                          </a:solidFill>
                          <a:latin typeface="Segoe UI"/>
                        </a:rPr>
                        <a:t>test_notificacao_enviada_uma_vez …</a:t>
                      </a:r>
                    </a:p>
                  </a:txBody>
                  <a:tcPr marL="73152" marR="73152" marT="36576" marB="36576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53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B7B"/>
                </a:solidFill>
                <a:latin typeface="Segoe UI"/>
              </a:rPr>
              <a:t>ClimaAlerta — Documentação técnica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92240"/>
            <a:ext cx="914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5B6B7B"/>
                </a:solidFill>
                <a:latin typeface="Segoe UI"/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3D85C6"/>
                </a:solidFill>
                <a:latin typeface="Segoe UI"/>
              </a:rPr>
              <a:t>ENCERRAMENTO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200" b="1">
                <a:solidFill>
                  <a:srgbClr val="0B5394"/>
                </a:solidFill>
                <a:latin typeface="Segoe UI"/>
              </a:rPr>
              <a:t>Referências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ISO/IEC/IEEE 29148 — Engenharia de requisitos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OMG BPMN 2.0 / ISO/IEC 19510 — Modelagem de processos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ISO/IEC/IEEE 29119 — Testes de software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Lei nº 13.709/2018 — LGPD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Sommerville, I. *Engenharia de Software*. Pearson</a:t>
            </a:r>
          </a:p>
          <a:p>
            <a:pPr>
              <a:spcAft>
                <a:spcPts val="839"/>
              </a:spcAft>
            </a:pPr>
            <a:r>
              <a:rPr sz="2400">
                <a:solidFill>
                  <a:srgbClr val="3D85C6"/>
                </a:solidFill>
                <a:latin typeface="Segoe UI"/>
              </a:rPr>
              <a:t>• </a:t>
            </a:r>
            <a:r>
              <a:rPr sz="2400">
                <a:solidFill>
                  <a:srgbClr val="1F2D3D"/>
                </a:solidFill>
                <a:latin typeface="Segoe UI"/>
              </a:rPr>
              <a:t>Documentação técnica do ClimaAlerta: </a:t>
            </a:r>
            <a:r>
              <a:rPr sz="2400">
                <a:solidFill>
                  <a:srgbClr val="1F2D3D"/>
                </a:solidFill>
                <a:latin typeface="Consolas"/>
              </a:rPr>
              <a:t>documentacao/tecnica/</a:t>
            </a:r>
            <a:r>
              <a:rPr sz="2400">
                <a:solidFill>
                  <a:srgbClr val="1F2D3D"/>
                </a:solidFill>
                <a:latin typeface="Segoe UI"/>
              </a:rPr>
              <a:t> (01 a 12)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