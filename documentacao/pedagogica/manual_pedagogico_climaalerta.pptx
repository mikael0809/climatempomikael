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 projeto: um sistema real de monitoramento meteorológico, construído em 15 módulos no PyCharm.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1C232"/>
                </a:solidFill>
                <a:latin typeface="Segoe UI"/>
              </a:rPr>
              <a:t>PROJETO CLIMAALERTA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1737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Desenvolvendo o ClimaAlerta passo a passo no PyCharm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Python, dashboards, Selenium, APIs, Pandas, banco de dados, testes, depuração, Git e documentação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Material de aula — acompanha o manual pedagógico (PDF)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Versão 1.1 (PyCharm) · 21/10/2026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O que vamos construir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Um sistema web local que mostra </a:t>
            </a:r>
            <a:r>
              <a:rPr b="1" sz="2400">
                <a:solidFill>
                  <a:srgbClr val="1F2D3D"/>
                </a:solidFill>
                <a:latin typeface="Segoe UI"/>
              </a:rPr>
              <a:t>condições atuais</a:t>
            </a:r>
            <a:r>
              <a:rPr sz="2400">
                <a:solidFill>
                  <a:srgbClr val="1F2D3D"/>
                </a:solidFill>
                <a:latin typeface="Segoe UI"/>
              </a:rPr>
              <a:t>, previsão de </a:t>
            </a:r>
            <a:r>
              <a:rPr b="1" sz="2400">
                <a:solidFill>
                  <a:srgbClr val="1F2D3D"/>
                </a:solidFill>
                <a:latin typeface="Segoe UI"/>
              </a:rPr>
              <a:t>24 h</a:t>
            </a:r>
            <a:r>
              <a:rPr sz="2400">
                <a:solidFill>
                  <a:srgbClr val="1F2D3D"/>
                </a:solidFill>
                <a:latin typeface="Segoe UI"/>
              </a:rPr>
              <a:t> e </a:t>
            </a:r>
            <a:r>
              <a:rPr b="1" sz="2400">
                <a:solidFill>
                  <a:srgbClr val="1F2D3D"/>
                </a:solidFill>
                <a:latin typeface="Segoe UI"/>
              </a:rPr>
              <a:t>7 dias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Avisos oficiais</a:t>
            </a:r>
            <a:r>
              <a:rPr sz="2400">
                <a:solidFill>
                  <a:srgbClr val="1F2D3D"/>
                </a:solidFill>
                <a:latin typeface="Segoe UI"/>
              </a:rPr>
              <a:t> do INMET separados de </a:t>
            </a:r>
            <a:r>
              <a:rPr b="1" sz="2400">
                <a:solidFill>
                  <a:srgbClr val="1F2D3D"/>
                </a:solidFill>
                <a:latin typeface="Segoe UI"/>
              </a:rPr>
              <a:t>indicadores calculados</a:t>
            </a:r>
            <a:r>
              <a:rPr sz="2400">
                <a:solidFill>
                  <a:srgbClr val="1F2D3D"/>
                </a:solidFill>
                <a:latin typeface="Segoe UI"/>
              </a:rPr>
              <a:t> por nós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Vários municípios — começando por </a:t>
            </a:r>
            <a:r>
              <a:rPr b="1" sz="2400">
                <a:solidFill>
                  <a:srgbClr val="1F2D3D"/>
                </a:solidFill>
                <a:latin typeface="Segoe UI"/>
              </a:rPr>
              <a:t>Sapiranga - RS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Histórico, exportação CSV, diagnóstico e página educacional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Web Scraping com </a:t>
            </a:r>
            <a:r>
              <a:rPr b="1" sz="2400">
                <a:solidFill>
                  <a:srgbClr val="1F2D3D"/>
                </a:solidFill>
                <a:latin typeface="Segoe UI"/>
              </a:rPr>
              <a:t>Selenium</a:t>
            </a:r>
            <a:r>
              <a:rPr sz="2400">
                <a:solidFill>
                  <a:srgbClr val="1F2D3D"/>
                </a:solidFill>
                <a:latin typeface="Segoe UI"/>
              </a:rPr>
              <a:t> em uma página de demonstração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Testes automatizados, depuração e documentação técnica completa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1F2D3D"/>
                </a:solidFill>
                <a:latin typeface="Segoe UI"/>
              </a:rPr>
              <a:t>Projeto educacional: indicadores NÃO são alertas oficiais. Em risco, siga o INMET e a Defesa Civil (199).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O resultado final</a:t>
            </a:r>
          </a:p>
        </p:txBody>
      </p:sp>
      <p:pic>
        <p:nvPicPr>
          <p:cNvPr id="8" name="Picture 7" descr="app_pa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69" y="1325880"/>
            <a:ext cx="4161021" cy="452628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9788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B7B"/>
                </a:solidFill>
                <a:latin typeface="Segoe UI"/>
              </a:rPr>
              <a:t>Painel do ClimaAlerta com dados reais (21/10/2026)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2588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Fonte e horário sempre visíveis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Alertas oficiais × indicadores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Funciona sem internet com os últimos dados salvos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ROTEIRO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Os 15 módulos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309360"/>
                <a:gridCol w="29260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Módulos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Tema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Você cria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1–2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PyCharm, ambiente e dependências; fundamentos de Python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m01, m02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3–4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Primeira dashboard; HTML e seletores CSS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m03, m04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5–6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Selenium e depurador; consumo de APIs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m05, m06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7–8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Pandas; SQLite e SQLAlchemy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m07, m08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9–10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Regras de negócio; interface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m09, m10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11–12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Integração; automação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estudo do sistema, m12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13–15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Testes e depuração; Git; projeto final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test_m09, commits, IND08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Como cada módulo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Objetivo</a:t>
            </a:r>
            <a:r>
              <a:rPr sz="2400">
                <a:solidFill>
                  <a:srgbClr val="1F2D3D"/>
                </a:solidFill>
                <a:latin typeface="Segoe UI"/>
              </a:rPr>
              <a:t> → </a:t>
            </a:r>
            <a:r>
              <a:rPr b="1" sz="2400">
                <a:solidFill>
                  <a:srgbClr val="1F2D3D"/>
                </a:solidFill>
                <a:latin typeface="Segoe UI"/>
              </a:rPr>
              <a:t>conceitos</a:t>
            </a:r>
            <a:r>
              <a:rPr sz="2400">
                <a:solidFill>
                  <a:srgbClr val="1F2D3D"/>
                </a:solidFill>
                <a:latin typeface="Segoe UI"/>
              </a:rPr>
              <a:t> → </a:t>
            </a:r>
            <a:r>
              <a:rPr b="1" sz="2400">
                <a:solidFill>
                  <a:srgbClr val="1F2D3D"/>
                </a:solidFill>
                <a:latin typeface="Segoe UI"/>
              </a:rPr>
              <a:t>arquivo</a:t>
            </a:r>
            <a:r>
              <a:rPr sz="2400">
                <a:solidFill>
                  <a:srgbClr val="1F2D3D"/>
                </a:solidFill>
                <a:latin typeface="Segoe UI"/>
              </a:rPr>
              <a:t> → </a:t>
            </a:r>
            <a:r>
              <a:rPr b="1" sz="2400">
                <a:solidFill>
                  <a:srgbClr val="1F2D3D"/>
                </a:solidFill>
                <a:latin typeface="Segoe UI"/>
              </a:rPr>
              <a:t>passo a passo no PyCharm</a:t>
            </a:r>
            <a:r>
              <a:rPr sz="2400">
                <a:solidFill>
                  <a:srgbClr val="1F2D3D"/>
                </a:solidFill>
                <a:latin typeface="Segoe UI"/>
              </a:rPr>
              <a:t> → </a:t>
            </a:r>
            <a:r>
              <a:rPr b="1" sz="2400">
                <a:solidFill>
                  <a:srgbClr val="1F2D3D"/>
                </a:solidFill>
                <a:latin typeface="Segoe UI"/>
              </a:rPr>
              <a:t>código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Código </a:t>
            </a:r>
            <a:r>
              <a:rPr b="1" sz="2400">
                <a:solidFill>
                  <a:srgbClr val="1F2D3D"/>
                </a:solidFill>
                <a:latin typeface="Segoe UI"/>
              </a:rPr>
              <a:t>completo e comentado</a:t>
            </a:r>
            <a:r>
              <a:rPr sz="2400">
                <a:solidFill>
                  <a:srgbClr val="1F2D3D"/>
                </a:solidFill>
                <a:latin typeface="Segoe UI"/>
              </a:rPr>
              <a:t> linha a linha no manual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Resultado esperado</a:t>
            </a:r>
            <a:r>
              <a:rPr sz="2400">
                <a:solidFill>
                  <a:srgbClr val="1F2D3D"/>
                </a:solidFill>
                <a:latin typeface="Segoe UI"/>
              </a:rPr>
              <a:t>: saída real, obtida executando o código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Verificação</a:t>
            </a:r>
            <a:r>
              <a:rPr sz="2400">
                <a:solidFill>
                  <a:srgbClr val="1F2D3D"/>
                </a:solidFill>
                <a:latin typeface="Segoe UI"/>
              </a:rPr>
              <a:t>: um teste automático confere o seu arquivo (▶ ao lado do teste)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Erros frequentes</a:t>
            </a:r>
            <a:r>
              <a:rPr sz="2400">
                <a:solidFill>
                  <a:srgbClr val="1F2D3D"/>
                </a:solidFill>
                <a:latin typeface="Segoe UI"/>
              </a:rPr>
              <a:t>, </a:t>
            </a:r>
            <a:r>
              <a:rPr b="1" sz="2400">
                <a:solidFill>
                  <a:srgbClr val="1F2D3D"/>
                </a:solidFill>
                <a:latin typeface="Segoe UI"/>
              </a:rPr>
              <a:t>exercícios</a:t>
            </a:r>
            <a:r>
              <a:rPr sz="2400">
                <a:solidFill>
                  <a:srgbClr val="1F2D3D"/>
                </a:solidFill>
                <a:latin typeface="Segoe UI"/>
              </a:rPr>
              <a:t>, </a:t>
            </a:r>
            <a:r>
              <a:rPr b="1" sz="2400">
                <a:solidFill>
                  <a:srgbClr val="1F2D3D"/>
                </a:solidFill>
                <a:latin typeface="Segoe UI"/>
              </a:rPr>
              <a:t>critérios de conclusão</a:t>
            </a:r>
            <a:r>
              <a:rPr sz="2400">
                <a:solidFill>
                  <a:srgbClr val="1F2D3D"/>
                </a:solidFill>
                <a:latin typeface="Segoe UI"/>
              </a:rPr>
              <a:t> e </a:t>
            </a:r>
            <a:r>
              <a:rPr b="1" sz="2400">
                <a:solidFill>
                  <a:srgbClr val="1F2D3D"/>
                </a:solidFill>
                <a:latin typeface="Segoe UI"/>
              </a:rPr>
              <a:t>desafios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Cada ação no PyCharm tem o comando equivalente no Terminal do PyCharm (Alt+F12).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Preparação do ambiente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PyCharm, Python, ambiente virtual e instalação das dependências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Conhecendo a janela do PyCharm</a:t>
            </a:r>
          </a:p>
        </p:txBody>
      </p:sp>
      <p:pic>
        <p:nvPicPr>
          <p:cNvPr id="8" name="Picture 7" descr="pycharm_janela_esqu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656" y="1325880"/>
            <a:ext cx="6874206" cy="452628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B7B"/>
                </a:solidFill>
                <a:latin typeface="Segoe UI"/>
              </a:rPr>
              <a:t>Ilustração esquemática (não é captura de tela)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Atalhos essenciais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4114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Atalho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Executar o arquivo aberto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Ctrl+Shift+F10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Executar / depurar a última configuração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Shift+F10 / Shift+F9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Parar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Ctrl+F2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Terminal / janela Project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Alt+F12 / Alt+1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Settings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Ctrl+Alt+S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Procurar qualquer coisa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Shift duas vezes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Documentação / ir para a 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Ctrl+Q / Ctrl+B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Reformatar código / sugestões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Ctrl+Alt+L / Alt+Enter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Abrir o projeto e criar o ambiente virtual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Open</a:t>
            </a:r>
            <a:r>
              <a:rPr sz="2400">
                <a:solidFill>
                  <a:srgbClr val="1F2D3D"/>
                </a:solidFill>
                <a:latin typeface="Segoe UI"/>
              </a:rPr>
              <a:t> › pasta raiz (a que contém </a:t>
            </a:r>
            <a:r>
              <a:rPr sz="2400">
                <a:solidFill>
                  <a:srgbClr val="1F2D3D"/>
                </a:solidFill>
                <a:latin typeface="Consolas"/>
              </a:rPr>
              <a:t>app.py</a:t>
            </a:r>
            <a:r>
              <a:rPr sz="2400">
                <a:solidFill>
                  <a:srgbClr val="1F2D3D"/>
                </a:solidFill>
                <a:latin typeface="Segoe UI"/>
              </a:rPr>
              <a:t>) › </a:t>
            </a:r>
            <a:r>
              <a:rPr b="1" sz="2400">
                <a:solidFill>
                  <a:srgbClr val="1F2D3D"/>
                </a:solidFill>
                <a:latin typeface="Segoe UI"/>
              </a:rPr>
              <a:t>Trust Project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Settings (Ctrl+Alt+S) › Project › </a:t>
            </a:r>
            <a:r>
              <a:rPr b="1" sz="2400">
                <a:solidFill>
                  <a:srgbClr val="1F2D3D"/>
                </a:solidFill>
                <a:latin typeface="Segoe UI"/>
              </a:rPr>
              <a:t>Python Interpreter</a:t>
            </a:r>
          </a:p>
          <a:p>
            <a:pPr>
              <a:spcAft>
                <a:spcPts val="83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    – </a:t>
            </a:r>
            <a:r>
              <a:rPr sz="2200">
                <a:solidFill>
                  <a:srgbClr val="1F2D3D"/>
                </a:solidFill>
                <a:latin typeface="Segoe UI"/>
              </a:rPr>
              <a:t>Add Interpreter › Add Local Interpreter</a:t>
            </a:r>
          </a:p>
          <a:p>
            <a:pPr>
              <a:spcAft>
                <a:spcPts val="83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    – </a:t>
            </a:r>
            <a:r>
              <a:rPr sz="2200">
                <a:solidFill>
                  <a:srgbClr val="1F2D3D"/>
                </a:solidFill>
                <a:latin typeface="Segoe UI"/>
              </a:rPr>
              <a:t>Generate new · </a:t>
            </a:r>
            <a:r>
              <a:rPr b="1" sz="2200">
                <a:solidFill>
                  <a:srgbClr val="1F2D3D"/>
                </a:solidFill>
                <a:latin typeface="Segoe UI"/>
              </a:rPr>
              <a:t>Virtualenv</a:t>
            </a:r>
            <a:r>
              <a:rPr sz="2200">
                <a:solidFill>
                  <a:srgbClr val="1F2D3D"/>
                </a:solidFill>
                <a:latin typeface="Segoe UI"/>
              </a:rPr>
              <a:t> · Location </a:t>
            </a:r>
            <a:r>
              <a:rPr sz="2200">
                <a:solidFill>
                  <a:srgbClr val="1F2D3D"/>
                </a:solidFill>
                <a:latin typeface="Consolas"/>
              </a:rPr>
              <a:t>&lt;raiz&gt;/.venv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Barra de status mostra </a:t>
            </a:r>
            <a:r>
              <a:rPr sz="2400">
                <a:solidFill>
                  <a:srgbClr val="1F2D3D"/>
                </a:solidFill>
                <a:latin typeface="Consolas"/>
              </a:rPr>
              <a:t>Python 3.x (.venv)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Se o </a:t>
            </a:r>
            <a:r>
              <a:rPr sz="2400">
                <a:solidFill>
                  <a:srgbClr val="1F2D3D"/>
                </a:solidFill>
                <a:latin typeface="Consolas"/>
              </a:rPr>
              <a:t>.venv</a:t>
            </a:r>
            <a:r>
              <a:rPr sz="2400">
                <a:solidFill>
                  <a:srgbClr val="1F2D3D"/>
                </a:solidFill>
                <a:latin typeface="Segoe UI"/>
              </a:rPr>
              <a:t> já existir: </a:t>
            </a:r>
            <a:r>
              <a:rPr b="1" sz="2400">
                <a:solidFill>
                  <a:srgbClr val="1F2D3D"/>
                </a:solidFill>
                <a:latin typeface="Segoe UI"/>
              </a:rPr>
              <a:t>Select existing</a:t>
            </a:r>
            <a:r>
              <a:rPr sz="2400">
                <a:solidFill>
                  <a:srgbClr val="1F2D3D"/>
                </a:solidFill>
                <a:latin typeface="Segoe UI"/>
              </a:rPr>
              <a:t> › </a:t>
            </a:r>
            <a:r>
              <a:rPr sz="2400">
                <a:solidFill>
                  <a:srgbClr val="1F2D3D"/>
                </a:solidFill>
                <a:latin typeface="Consolas"/>
              </a:rPr>
              <a:t>.venv/Scripts/python.exe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F2D3D"/>
                </a:solidFill>
                <a:latin typeface="Segoe UI"/>
              </a:rPr>
              <a:t>O PyCharm pode oferecer criar o ambiente sozinho: aceite e confira que a pasta é .venv na raiz.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Instalando as dependências — três caminhos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949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Caminho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Como fazer no PyCharm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 — Install requirements (recomendado)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Abra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requirements.txt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e clique em </a:t>
                      </a:r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Install requirements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na faixa do topo do editor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B — Python Packages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View › Tool Windows › </a:t>
                      </a:r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Python Packages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: pesquise o pacote, escolha a versão e </a:t>
                      </a:r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Install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 — Terminal do PyCharm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python -m pip install -r requirements.txt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Conferir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Settings › Python Interpreter: lista de pacotes e versões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F2D3D"/>
                </a:solidFill>
                <a:latin typeface="Segoe UI"/>
              </a:rPr>
              <a:t>Ao acrescentar uma biblioteca no requirements.txt, o PyCharm volta a oferecer Install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Ajustes do PyCharm (uma vez por projeto)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Ajuste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Onde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UTF-8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Settings › Editor › File Encodings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pytest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Settings › Tools › Python Integrated Tools › Default test runner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Pasta de trabalho = raiz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Run › Edit Configurations › Edit configuration templates › Working directory: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$ProjectFileDir$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Pasta do tutorial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Renomear soluções para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tutorial_referencia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; criar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exemplos/tutorial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; Mark Directory as › Sources Root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.env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Copiar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.env.example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como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.env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(Ctrl+C / Ctrl+V)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Primeiro programa: verificar o ambiente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583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6400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▶ m01_verificar_ambiente.py — janela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58368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35508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Python 3.14.3 em ...\.venv\Scripts\python.exe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versão do Python: OK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ambiente virtual ativo: sim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requests        2.34.2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pandas          3.0.6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streamlit       1.66.1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selenium        4.51.0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SQLAlchemy      2.1.6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Ambiente pronto!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4023360" cy="41148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Como verificar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New › Python File: </a:t>
            </a:r>
            <a:r>
              <a:rPr sz="1800">
                <a:solidFill>
                  <a:srgbClr val="1F2D3D"/>
                </a:solidFill>
                <a:latin typeface="Consolas"/>
              </a:rPr>
              <a:t>m01_verificar_ambiente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▶ ao lado de </a:t>
            </a:r>
            <a:r>
              <a:rPr sz="1800">
                <a:solidFill>
                  <a:srgbClr val="1F2D3D"/>
                </a:solidFill>
                <a:latin typeface="Consolas"/>
              </a:rPr>
              <a:t>if __name__ ...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Teste: ▶ em </a:t>
            </a:r>
            <a:r>
              <a:rPr sz="1800">
                <a:solidFill>
                  <a:srgbClr val="1F2D3D"/>
                </a:solidFill>
                <a:latin typeface="Consolas"/>
              </a:rPr>
              <a:t>test_m01_verifica_ambiente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Em Settings › Python Interpreter, anote as versões de </a:t>
            </a:r>
            <a:r>
              <a:rPr sz="2200">
                <a:solidFill>
                  <a:srgbClr val="1F2D3D"/>
                </a:solidFill>
                <a:latin typeface="Consolas"/>
              </a:rPr>
              <a:t>pandas</a:t>
            </a:r>
            <a:r>
              <a:rPr sz="2200">
                <a:solidFill>
                  <a:srgbClr val="1F2D3D"/>
                </a:solidFill>
                <a:latin typeface="Segoe UI"/>
              </a:rPr>
              <a:t> e </a:t>
            </a:r>
            <a:r>
              <a:rPr sz="2200">
                <a:solidFill>
                  <a:srgbClr val="1F2D3D"/>
                </a:solidFill>
                <a:latin typeface="Consolas"/>
              </a:rPr>
              <a:t>selenium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Na janela Python Packages, pesquise </a:t>
            </a:r>
            <a:r>
              <a:rPr sz="2200">
                <a:solidFill>
                  <a:srgbClr val="1F2D3D"/>
                </a:solidFill>
                <a:latin typeface="Consolas"/>
              </a:rPr>
              <a:t>ruff</a:t>
            </a:r>
            <a:r>
              <a:rPr sz="2200">
                <a:solidFill>
                  <a:srgbClr val="1F2D3D"/>
                </a:solidFill>
                <a:latin typeface="Segoe UI"/>
              </a:rPr>
              <a:t> e leia a descrição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Abra o </a:t>
            </a:r>
            <a:r>
              <a:rPr sz="2200">
                <a:solidFill>
                  <a:srgbClr val="1F2D3D"/>
                </a:solidFill>
                <a:latin typeface="Consolas"/>
              </a:rPr>
              <a:t>.env</a:t>
            </a:r>
            <a:r>
              <a:rPr sz="2200">
                <a:solidFill>
                  <a:srgbClr val="1F2D3D"/>
                </a:solidFill>
                <a:latin typeface="Segoe UI"/>
              </a:rPr>
              <a:t>: qual é o intervalo de atualização padrão?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Faça o verificador terminar com sys.exit(1) quando algo estiver errado e veja o exit code na janela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Fundamentos de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Variáveis, listas, dicionários, funções, condições e laços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Conceitos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Consolas"/>
              </a:rPr>
              <a:t>str</a:t>
            </a:r>
            <a:r>
              <a:rPr sz="2100">
                <a:solidFill>
                  <a:srgbClr val="1F2D3D"/>
                </a:solidFill>
                <a:latin typeface="Segoe UI"/>
              </a:rPr>
              <a:t>, </a:t>
            </a:r>
            <a:r>
              <a:rPr sz="2100">
                <a:solidFill>
                  <a:srgbClr val="1F2D3D"/>
                </a:solidFill>
                <a:latin typeface="Consolas"/>
              </a:rPr>
              <a:t>int</a:t>
            </a:r>
            <a:r>
              <a:rPr sz="2100">
                <a:solidFill>
                  <a:srgbClr val="1F2D3D"/>
                </a:solidFill>
                <a:latin typeface="Segoe UI"/>
              </a:rPr>
              <a:t>, </a:t>
            </a:r>
            <a:r>
              <a:rPr sz="2100">
                <a:solidFill>
                  <a:srgbClr val="1F2D3D"/>
                </a:solidFill>
                <a:latin typeface="Consolas"/>
              </a:rPr>
              <a:t>float</a:t>
            </a:r>
            <a:r>
              <a:rPr sz="2100">
                <a:solidFill>
                  <a:srgbClr val="1F2D3D"/>
                </a:solidFill>
                <a:latin typeface="Segoe UI"/>
              </a:rPr>
              <a:t>, </a:t>
            </a:r>
            <a:r>
              <a:rPr sz="2100">
                <a:solidFill>
                  <a:srgbClr val="1F2D3D"/>
                </a:solidFill>
                <a:latin typeface="Consolas"/>
              </a:rPr>
              <a:t>bool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Lista </a:t>
            </a:r>
            <a:r>
              <a:rPr sz="2100">
                <a:solidFill>
                  <a:srgbClr val="1F2D3D"/>
                </a:solidFill>
                <a:latin typeface="Consolas"/>
              </a:rPr>
              <a:t>[11.3, 14.0]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Dicionário </a:t>
            </a:r>
            <a:r>
              <a:rPr sz="2100">
                <a:solidFill>
                  <a:srgbClr val="1F2D3D"/>
                </a:solidFill>
                <a:latin typeface="Consolas"/>
              </a:rPr>
              <a:t>{"cidade": ...}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Decimal com </a:t>
            </a:r>
            <a:r>
              <a:rPr b="1" sz="2100">
                <a:solidFill>
                  <a:srgbClr val="1F2D3D"/>
                </a:solidFill>
                <a:latin typeface="Segoe UI"/>
              </a:rPr>
              <a:t>ponto</a:t>
            </a:r>
            <a:r>
              <a:rPr sz="2100">
                <a:solidFill>
                  <a:srgbClr val="1F2D3D"/>
                </a:solidFill>
                <a:latin typeface="Segoe UI"/>
              </a:rPr>
              <a:t>: </a:t>
            </a:r>
            <a:r>
              <a:rPr sz="2100">
                <a:solidFill>
                  <a:srgbClr val="1F2D3D"/>
                </a:solidFill>
                <a:latin typeface="Consolas"/>
              </a:rPr>
              <a:t>24.7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Lógica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Consolas"/>
              </a:rPr>
              <a:t>def</a:t>
            </a:r>
            <a:r>
              <a:rPr sz="2100">
                <a:solidFill>
                  <a:srgbClr val="1F2D3D"/>
                </a:solidFill>
                <a:latin typeface="Segoe UI"/>
              </a:rPr>
              <a:t> cria funções; </a:t>
            </a:r>
            <a:r>
              <a:rPr sz="2100">
                <a:solidFill>
                  <a:srgbClr val="1F2D3D"/>
                </a:solidFill>
                <a:latin typeface="Consolas"/>
              </a:rPr>
              <a:t>return</a:t>
            </a:r>
            <a:r>
              <a:rPr sz="2100">
                <a:solidFill>
                  <a:srgbClr val="1F2D3D"/>
                </a:solidFill>
                <a:latin typeface="Segoe UI"/>
              </a:rPr>
              <a:t> devolve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Consolas"/>
              </a:rPr>
              <a:t>if / elif / else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Consolas"/>
              </a:rPr>
              <a:t>for</a:t>
            </a:r>
            <a:r>
              <a:rPr sz="2100">
                <a:solidFill>
                  <a:srgbClr val="1F2D3D"/>
                </a:solidFill>
                <a:latin typeface="Segoe UI"/>
              </a:rPr>
              <a:t> percorre listas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f-string: </a:t>
            </a:r>
            <a:r>
              <a:rPr sz="2100">
                <a:solidFill>
                  <a:srgbClr val="1F2D3D"/>
                </a:solidFill>
                <a:latin typeface="Consolas"/>
              </a:rPr>
              <a:t>f"{temp:.1f} °C"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Funções do módulo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exemplos/tutorial/m02_fundamentos.py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397764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def celsius_para_fahrenheit(celsius: float) -&gt; float: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return celsius * 9 / 5 + 32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def classificar(temp: float) -&gt; str: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if temp &gt;= 30: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    return "quente"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elif temp &gt;= 18: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    return "agradável"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else: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    return "frio"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def media(valores: list[float]) -&gt; float: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return sum(valores) / len(valores)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if __name__ == "__main__":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print(f"Cidade: {leitura['cidade']}")</a:t>
            </a:r>
          </a:p>
          <a:p>
            <a:pPr algn="l"/>
            <a:r>
              <a:rPr sz="1215" b="0">
                <a:solidFill>
                  <a:srgbClr val="E6EDF3"/>
                </a:solidFill>
                <a:latin typeface="Consolas"/>
              </a:rPr>
              <a:t>    print(f"Agora: {temperatura} °C = {celsius_para_fahrenheit(temperatura):.1f} °F ({classificar(temperatura)})")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1F2D3D"/>
                </a:solidFill>
                <a:latin typeface="Segoe UI"/>
              </a:rPr>
              <a:t>A primeira condição verdadeira vence · Ctrl+Q: documentação · Ctrl+B: definição · Ctrl+Alt+L: formatar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Resultado e verificação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583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6400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▶ m02_fundamentos.py — janela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58368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35508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Cidade: Sapiranga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Agora: 24.7 °C = 76.5 °F (agradável)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Mínima: 11.3 °C | Máxima: 25.2 °C | Média: 19.0 °C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00h -&gt;  11.3 °C (frio)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08h -&gt;  19.5 °C (agradável)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Está chovendo? não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4023360" cy="41148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Como verificar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▶ em </a:t>
            </a:r>
            <a:r>
              <a:rPr sz="1800">
                <a:solidFill>
                  <a:srgbClr val="1F2D3D"/>
                </a:solidFill>
                <a:latin typeface="Consolas"/>
              </a:rPr>
              <a:t>test_m02_fundamentos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Consolas"/>
              </a:rPr>
              <a:t>IndentationError</a:t>
            </a:r>
            <a:r>
              <a:rPr sz="1800">
                <a:solidFill>
                  <a:srgbClr val="1F2D3D"/>
                </a:solidFill>
                <a:latin typeface="Segoe UI"/>
              </a:rPr>
              <a:t>? use Tab e Ctrl+Alt+L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Shift+F6 renomeia em todo o arquivo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Crie </a:t>
            </a:r>
            <a:r>
              <a:rPr sz="2200">
                <a:solidFill>
                  <a:srgbClr val="1F2D3D"/>
                </a:solidFill>
                <a:latin typeface="Consolas"/>
              </a:rPr>
              <a:t>kmh_para_ms(v)</a:t>
            </a:r>
            <a:r>
              <a:rPr sz="2200">
                <a:solidFill>
                  <a:srgbClr val="1F2D3D"/>
                </a:solidFill>
                <a:latin typeface="Segoe UI"/>
              </a:rPr>
              <a:t> e converta 13,5 km/h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Acrescente a faixa "muito quente" (≥ 35 °C)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Conte as horas classificadas como "frio"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Leia a temperatura com input() (digitação na janela Run) e aceite vírgula decimal.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Primeira dashboard com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Cartões, seletor, gráfico, tabela e Run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Conceitos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Dashboard</a:t>
            </a:r>
            <a:r>
              <a:rPr sz="2400">
                <a:solidFill>
                  <a:srgbClr val="1F2D3D"/>
                </a:solidFill>
                <a:latin typeface="Segoe UI"/>
              </a:rPr>
              <a:t>: cartões, gráficos e tabelas que resumem dados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O Streamlit </a:t>
            </a:r>
            <a:r>
              <a:rPr b="1" sz="2400">
                <a:solidFill>
                  <a:srgbClr val="1F2D3D"/>
                </a:solidFill>
                <a:latin typeface="Segoe UI"/>
              </a:rPr>
              <a:t>reexecuta o script</a:t>
            </a:r>
            <a:r>
              <a:rPr sz="2400">
                <a:solidFill>
                  <a:srgbClr val="1F2D3D"/>
                </a:solidFill>
                <a:latin typeface="Segoe UI"/>
              </a:rPr>
              <a:t> a cada interação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Uma dashboard é iniciada com </a:t>
            </a:r>
            <a:r>
              <a:rPr sz="2400">
                <a:solidFill>
                  <a:srgbClr val="1F2D3D"/>
                </a:solidFill>
                <a:latin typeface="Consolas"/>
              </a:rPr>
              <a:t>streamlit run arquivo.py</a:t>
            </a:r>
            <a:r>
              <a:rPr sz="2400">
                <a:solidFill>
                  <a:srgbClr val="1F2D3D"/>
                </a:solidFill>
                <a:latin typeface="Segoe UI"/>
              </a:rPr>
              <a:t> — </a:t>
            </a:r>
            <a:r>
              <a:rPr b="1" sz="2400">
                <a:solidFill>
                  <a:srgbClr val="1F2D3D"/>
                </a:solidFill>
                <a:latin typeface="Segoe UI"/>
              </a:rPr>
              <a:t>não</a:t>
            </a:r>
            <a:r>
              <a:rPr sz="2400">
                <a:solidFill>
                  <a:srgbClr val="1F2D3D"/>
                </a:solidFill>
                <a:latin typeface="Segoe UI"/>
              </a:rPr>
              <a:t> com o ▶ comum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No PyCharm: Run Configuration do </a:t>
            </a:r>
            <a:r>
              <a:rPr b="1" sz="2400">
                <a:solidFill>
                  <a:srgbClr val="1F2D3D"/>
                </a:solidFill>
                <a:latin typeface="Segoe UI"/>
              </a:rPr>
              <a:t>módulo</a:t>
            </a:r>
            <a:r>
              <a:rPr sz="2400">
                <a:solidFill>
                  <a:srgbClr val="1F2D3D"/>
                </a:solidFill>
                <a:latin typeface="Segoe UI"/>
              </a:rPr>
              <a:t> </a:t>
            </a:r>
            <a:r>
              <a:rPr sz="2400">
                <a:solidFill>
                  <a:srgbClr val="1F2D3D"/>
                </a:solidFill>
                <a:latin typeface="Consolas"/>
              </a:rPr>
              <a:t>streamlit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Dados </a:t>
            </a:r>
            <a:r>
              <a:rPr b="1" sz="2400">
                <a:solidFill>
                  <a:srgbClr val="1F2D3D"/>
                </a:solidFill>
                <a:latin typeface="Segoe UI"/>
              </a:rPr>
              <a:t>simulados</a:t>
            </a:r>
            <a:r>
              <a:rPr sz="2400">
                <a:solidFill>
                  <a:srgbClr val="1F2D3D"/>
                </a:solidFill>
                <a:latin typeface="Segoe UI"/>
              </a:rPr>
              <a:t> sempre identificados na tela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Run Configuration para o Streamlit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394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Campo (Run › Edit Configurations › + › Python)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m03 - dashboard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script → </a:t>
                      </a:r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streamlit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Script parameters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run exemplos/tutorial/m03_primeira_dashboard.py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Working directory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pasta raiz do projeto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Python interpreter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.venv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do projeto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1F2D3D"/>
                </a:solidFill>
                <a:latin typeface="Segoe UI"/>
              </a:rPr>
              <a:t>Para parar: ■ na janela Run (Ctrl+F2). Copy Configuration duplica a configuração para outras dashboards.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Cartões e gráfico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exemplos/tutorial/m03_primeira_dashboard.py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col1, col2, col3 = st.columns(3)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col1.metric("Máxima", f"{dados['temperatura'].max():.1f} °C")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col2.metric("Mínima", f"{dados['temperatura'].min():.1f} °C")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col3.metric("Chuva total", f"{dados['chuva_mm'].sum():.1f} mm")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variavel = st.selectbox("Variável do gráfico", ["temperatura", "chuva_mm"])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st.line_chart(dados, x="hora", y=variavel)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st.subheader("Tabela")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st.dataframe(dados, hide_index=True)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Dashboard de exemplo do projeto</a:t>
            </a:r>
          </a:p>
        </p:txBody>
      </p:sp>
      <p:pic>
        <p:nvPicPr>
          <p:cNvPr id="8" name="Picture 7" descr="exempl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077" y="1325880"/>
            <a:ext cx="3685204" cy="452628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9788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B7B"/>
                </a:solidFill>
                <a:latin typeface="Segoe UI"/>
              </a:rPr>
              <a:t>Configuração 'Dashboard de exemplo' — run exemplos/dashboard_python/app.py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2588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Filtros de município e período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Indicador calculado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Dados reais opcionais (Open-Meteo)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Nunca mistura simulados e reais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Acrescente um cartão com a média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Troque </a:t>
            </a:r>
            <a:r>
              <a:rPr sz="2200">
                <a:solidFill>
                  <a:srgbClr val="1F2D3D"/>
                </a:solidFill>
                <a:latin typeface="Consolas"/>
              </a:rPr>
              <a:t>line_chart</a:t>
            </a:r>
            <a:r>
              <a:rPr sz="2200">
                <a:solidFill>
                  <a:srgbClr val="1F2D3D"/>
                </a:solidFill>
                <a:latin typeface="Segoe UI"/>
              </a:rPr>
              <a:t> por </a:t>
            </a:r>
            <a:r>
              <a:rPr sz="2200">
                <a:solidFill>
                  <a:srgbClr val="1F2D3D"/>
                </a:solidFill>
                <a:latin typeface="Consolas"/>
              </a:rPr>
              <a:t>bar_chart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Na dashboard de exemplo, use limite de 5 mm: quantos dias aparecem?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Leia dados_simulados.csv com pd.read_csv e mostre-o na sua página.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HTML e seletores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A base do Web Scraping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Seletores CSS essenciais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474720"/>
                <a:gridCol w="4114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Seletor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Encontra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Na página do módulo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h1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Pela tag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 título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#titulo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Pelo id (único)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 título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.cidade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Pela classe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3 cartões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div.cidade .temp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Dentro de outro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3 temperaturas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.cidade.destaque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Duas classes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Porto Alegre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[data-uf='SC']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Pelo atributo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Florianópolis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 página de prática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exemplos/tutorial/m04_pagina.html (trecho — arquivo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397764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&lt;div class="cidade" data-uf="RS"&gt;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  &lt;h2 class="nome"&gt;Sapiranga&lt;/h2&gt;                               &lt;!-- seletor: .nome --&gt;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  &lt;span class="temp"&gt;24,5 °C&lt;/span&gt;                              &lt;!-- seletor: .temp (vírgula decimal!) --&gt;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  &lt;a class="mais" href="https://open-meteo.com/"&gt;Fonte de exemplo&lt;/a&gt; &lt;!-- link: atributo href --&gt;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&lt;/div&gt;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&lt;!-- Este cartão tem DUAS classes: "cidade" e "destaque" (seletor: .cidade.destaque) --&gt;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&lt;div class="cidade destaque" data-uf="RS"&gt;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  &lt;h2 class="nome"&gt;Porto Alegre&lt;/h2&gt;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  &lt;span class="temp"&gt;26,1 °C&lt;/span&gt;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  &lt;!-- Repare: este cartão NÃO tem o link &lt;a class="mais"&gt;.</a:t>
            </a:r>
          </a:p>
          <a:p>
            <a:pPr algn="l"/>
            <a:r>
              <a:rPr sz="1271" b="0">
                <a:solidFill>
                  <a:srgbClr val="E6EDF3"/>
                </a:solidFill>
                <a:latin typeface="Consolas"/>
              </a:rPr>
              <a:t>         No módulo 5 o programa precisa tratar esse elemento ausente.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2D3D"/>
                </a:solidFill>
                <a:latin typeface="Segoe UI"/>
              </a:rPr>
              <a:t>New › HTML File · Ícone do Chrome no canto do editor · F12 › Console · </a:t>
            </a:r>
            <a:r>
              <a:rPr sz="1300">
                <a:solidFill>
                  <a:srgbClr val="1F2D3D"/>
                </a:solidFill>
                <a:latin typeface="Consolas"/>
              </a:rPr>
              <a:t>document.querySelectorAll(".cidade").length</a:t>
            </a:r>
            <a:r>
              <a:rPr sz="1300">
                <a:solidFill>
                  <a:srgbClr val="1F2D3D"/>
                </a:solidFill>
                <a:latin typeface="Segoe UI"/>
              </a:rPr>
              <a:t> → </a:t>
            </a:r>
            <a:r>
              <a:rPr b="1" sz="1300">
                <a:solidFill>
                  <a:srgbClr val="1F2D3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Seletor para os nomes das cidades do RS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Acrescente uma 4ª cidade e confirme no console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Abra a página de demonstração do projeto pelo PyCharm e descubra a classe dos cartões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Use li:nth-child(2) e escreva o XPath equivalente a #titulo.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Web Scraping com Selenium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Esperas explícitas, normalização — e o depurador do PyCharm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Conceitos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WebDriver</a:t>
            </a:r>
            <a:r>
              <a:rPr sz="2400">
                <a:solidFill>
                  <a:srgbClr val="1F2D3D"/>
                </a:solidFill>
                <a:latin typeface="Segoe UI"/>
              </a:rPr>
              <a:t> controla o Chrome; </a:t>
            </a:r>
            <a:r>
              <a:rPr sz="2400">
                <a:solidFill>
                  <a:srgbClr val="1F2D3D"/>
                </a:solidFill>
                <a:latin typeface="Consolas"/>
              </a:rPr>
              <a:t>--headless=new</a:t>
            </a:r>
            <a:r>
              <a:rPr sz="2400">
                <a:solidFill>
                  <a:srgbClr val="1F2D3D"/>
                </a:solidFill>
                <a:latin typeface="Segoe UI"/>
              </a:rPr>
              <a:t> sem janela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Espera explícita</a:t>
            </a:r>
            <a:r>
              <a:rPr sz="2400">
                <a:solidFill>
                  <a:srgbClr val="1F2D3D"/>
                </a:solidFill>
                <a:latin typeface="Segoe UI"/>
              </a:rPr>
              <a:t>: </a:t>
            </a:r>
            <a:r>
              <a:rPr sz="2400">
                <a:solidFill>
                  <a:srgbClr val="1F2D3D"/>
                </a:solidFill>
                <a:latin typeface="Consolas"/>
              </a:rPr>
              <a:t>WebDriverWait(...).until(...)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Consolas"/>
              </a:rPr>
              <a:t>find_element</a:t>
            </a:r>
            <a:r>
              <a:rPr sz="2400">
                <a:solidFill>
                  <a:srgbClr val="1F2D3D"/>
                </a:solidFill>
                <a:latin typeface="Segoe UI"/>
              </a:rPr>
              <a:t> (erro se faltar) × </a:t>
            </a:r>
            <a:r>
              <a:rPr sz="2400">
                <a:solidFill>
                  <a:srgbClr val="1F2D3D"/>
                </a:solidFill>
                <a:latin typeface="Consolas"/>
              </a:rPr>
              <a:t>find_elements</a:t>
            </a:r>
            <a:r>
              <a:rPr sz="2400">
                <a:solidFill>
                  <a:srgbClr val="1F2D3D"/>
                </a:solidFill>
                <a:latin typeface="Segoe UI"/>
              </a:rPr>
              <a:t> (lista vazia)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Normalizar</a:t>
            </a:r>
            <a:r>
              <a:rPr sz="2400">
                <a:solidFill>
                  <a:srgbClr val="1F2D3D"/>
                </a:solidFill>
                <a:latin typeface="Segoe UI"/>
              </a:rPr>
              <a:t>: "24,5 °C" → </a:t>
            </a:r>
            <a:r>
              <a:rPr sz="2400">
                <a:solidFill>
                  <a:srgbClr val="1F2D3D"/>
                </a:solidFill>
                <a:latin typeface="Consolas"/>
              </a:rPr>
              <a:t>24.5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Consolas"/>
              </a:rPr>
              <a:t>try/finally</a:t>
            </a:r>
            <a:r>
              <a:rPr sz="2400">
                <a:solidFill>
                  <a:srgbClr val="1F2D3D"/>
                </a:solidFill>
                <a:latin typeface="Segoe UI"/>
              </a:rPr>
              <a:t> garante </a:t>
            </a:r>
            <a:r>
              <a:rPr sz="2400">
                <a:solidFill>
                  <a:srgbClr val="1F2D3D"/>
                </a:solidFill>
                <a:latin typeface="Consolas"/>
              </a:rPr>
              <a:t>navegador.quit()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Prefira APIs. Respeite termos de uso e robots.txt; nunca contorne CAPTCHA ou login.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Extração com tratamento de ausência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exemplos/tutorial/m05_selenium_basico.py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navegador.get(PAGINA)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WebDriverWait(navegador, 10).until(EC.presence_of_element_located((By.ID, "titulo")))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resultado = []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for cartao in navegador.find_elements(By.CSS_SELECTOR, "div.cidade"):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temp_texto = texto_ou_none(cartao, ".temp")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temperatura = float(temp_texto.split()[0].replace(",", ".")) if temp_texto else None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link = cartao.find_elements(By.CSS_SELECTOR, "a.mais")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resultado.append(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    {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        "cidade": texto_ou_none(cartao, ".nome"),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        "uf": cartao.get_attribute("data-uf"),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        "temperatura": temperatura,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        "link": link[0].get_attribute("href") if link else None,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    }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    )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return resultado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finally:</a:t>
            </a:r>
          </a:p>
          <a:p>
            <a:pPr algn="l"/>
            <a:r>
              <a:rPr sz="1400" b="0">
                <a:solidFill>
                  <a:srgbClr val="E6EDF3"/>
                </a:solidFill>
                <a:latin typeface="Consolas"/>
              </a:rPr>
              <a:t>        navegador.quit()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Acompanhando a extração no depurador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863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Passo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Como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Ponto de parada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Clique na margem da linha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for cartao in ...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(bolinha vermelha)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Depurar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Botão direito no editor › </a:t>
                      </a:r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Debug 'm05_selenium_basico'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Próxima linha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F8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(Step Over) — observe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cartao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,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temp_texto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,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temperatura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Avaliar expressão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Alt+F8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›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cartao.text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Continuar até o fim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F9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(o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finally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fecha o navegador)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Resultado e verificação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583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6400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▶ m05_selenium_basico.py — janela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58368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35508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60" b="0">
                <a:solidFill>
                  <a:srgbClr val="E6EDF3"/>
                </a:solidFill>
                <a:latin typeface="Consolas"/>
              </a:rPr>
              <a:t>{'cidade': 'Sapiranga', 'uf': 'RS', 'temperatura': 24.5,</a:t>
            </a:r>
          </a:p>
          <a:p>
            <a:pPr algn="l"/>
            <a:r>
              <a:rPr sz="1360" b="0">
                <a:solidFill>
                  <a:srgbClr val="E6EDF3"/>
                </a:solidFill>
                <a:latin typeface="Consolas"/>
              </a:rPr>
              <a:t> 'link': 'https://open-meteo.com/'}</a:t>
            </a:r>
          </a:p>
          <a:p>
            <a:pPr algn="l"/>
            <a:r>
              <a:rPr sz="1360" b="0">
                <a:solidFill>
                  <a:srgbClr val="E6EDF3"/>
                </a:solidFill>
                <a:latin typeface="Consolas"/>
              </a:rPr>
              <a:t>{'cidade': 'Porto Alegre', 'uf': 'RS', 'temperatura': 26.1,</a:t>
            </a:r>
          </a:p>
          <a:p>
            <a:pPr algn="l"/>
            <a:r>
              <a:rPr sz="1360" b="0">
                <a:solidFill>
                  <a:srgbClr val="E6EDF3"/>
                </a:solidFill>
                <a:latin typeface="Consolas"/>
              </a:rPr>
              <a:t> 'link': None}</a:t>
            </a:r>
          </a:p>
          <a:p>
            <a:pPr algn="l"/>
            <a:r>
              <a:rPr sz="1360" b="0">
                <a:solidFill>
                  <a:srgbClr val="E6EDF3"/>
                </a:solidFill>
                <a:latin typeface="Consolas"/>
              </a:rPr>
              <a:t>{'cidade': 'Florianópolis', 'uf': 'SC', 'temperatura': 22.0,</a:t>
            </a:r>
          </a:p>
          <a:p>
            <a:pPr algn="l"/>
            <a:r>
              <a:rPr sz="1360" b="0">
                <a:solidFill>
                  <a:srgbClr val="E6EDF3"/>
                </a:solidFill>
                <a:latin typeface="Consolas"/>
              </a:rPr>
              <a:t> 'link': None}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4023360" cy="41148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Como verificar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▶ em </a:t>
            </a:r>
            <a:r>
              <a:rPr sz="1800">
                <a:solidFill>
                  <a:srgbClr val="1F2D3D"/>
                </a:solidFill>
                <a:latin typeface="Consolas"/>
              </a:rPr>
              <a:t>test_m05_selenium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Scraper do projeto: ▶ em </a:t>
            </a:r>
            <a:r>
              <a:rPr sz="1800">
                <a:solidFill>
                  <a:srgbClr val="1F2D3D"/>
                </a:solidFill>
                <a:latin typeface="Consolas"/>
              </a:rPr>
              <a:t>scripts/executar_scraper_demo.py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Script parameters </a:t>
            </a:r>
            <a:r>
              <a:rPr sz="1800">
                <a:solidFill>
                  <a:srgbClr val="1F2D3D"/>
                </a:solidFill>
                <a:latin typeface="Consolas"/>
              </a:rPr>
              <a:t>--visivel</a:t>
            </a:r>
            <a:r>
              <a:rPr sz="1800">
                <a:solidFill>
                  <a:srgbClr val="1F2D3D"/>
                </a:solidFill>
                <a:latin typeface="Segoe UI"/>
              </a:rPr>
              <a:t> mostra o Chrome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Extraia os dias de </a:t>
            </a:r>
            <a:r>
              <a:rPr sz="2200">
                <a:solidFill>
                  <a:srgbClr val="1F2D3D"/>
                </a:solidFill>
                <a:latin typeface="Consolas"/>
              </a:rPr>
              <a:t>#lista-dias li</a:t>
            </a:r>
            <a:r>
              <a:rPr sz="2200">
                <a:solidFill>
                  <a:srgbClr val="1F2D3D"/>
                </a:solidFill>
                <a:latin typeface="Segoe UI"/>
              </a:rPr>
              <a:t> como números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No depurador, avalie </a:t>
            </a:r>
            <a:r>
              <a:rPr sz="2200">
                <a:solidFill>
                  <a:srgbClr val="1F2D3D"/>
                </a:solidFill>
                <a:latin typeface="Consolas"/>
              </a:rPr>
              <a:t>cartao.text</a:t>
            </a:r>
            <a:r>
              <a:rPr sz="2200">
                <a:solidFill>
                  <a:srgbClr val="1F2D3D"/>
                </a:solidFill>
                <a:latin typeface="Segoe UI"/>
              </a:rPr>
              <a:t> com Alt+F8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No scraper de demonstração: qual cidade não tem umidade?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Insira as cidades com setTimeout de 2 s e ajuste a espera.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Consumo de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requests, parâmetros, JSON, status HTTP e timeout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Conceitos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Pedido (requisição) → resposta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b="1" sz="2100">
                <a:solidFill>
                  <a:srgbClr val="1F2D3D"/>
                </a:solidFill>
                <a:latin typeface="Segoe UI"/>
              </a:rPr>
              <a:t>GET</a:t>
            </a:r>
            <a:r>
              <a:rPr sz="2100">
                <a:solidFill>
                  <a:srgbClr val="1F2D3D"/>
                </a:solidFill>
                <a:latin typeface="Segoe UI"/>
              </a:rPr>
              <a:t> com parâmetros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Resposta em </a:t>
            </a:r>
            <a:r>
              <a:rPr b="1" sz="2100">
                <a:solidFill>
                  <a:srgbClr val="1F2D3D"/>
                </a:solidFill>
                <a:latin typeface="Segoe UI"/>
              </a:rPr>
              <a:t>JSON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Status 200 / 4xx / 5xx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Boas práticas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Sempre </a:t>
            </a:r>
            <a:r>
              <a:rPr sz="2100">
                <a:solidFill>
                  <a:srgbClr val="1F2D3D"/>
                </a:solidFill>
                <a:latin typeface="Consolas"/>
              </a:rPr>
              <a:t>timeout=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Consolas"/>
              </a:rPr>
              <a:t>raise_for_status()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Tratar </a:t>
            </a:r>
            <a:r>
              <a:rPr sz="2100">
                <a:solidFill>
                  <a:srgbClr val="1F2D3D"/>
                </a:solidFill>
                <a:latin typeface="Consolas"/>
              </a:rPr>
              <a:t>RequestException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Citar a fonte (CC BY 4.0)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Consultando a Open-Meteo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exemplos/tutorial/m06_api_open_meteo.py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parametros = {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"latitude": latitude,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"longitude": longitude,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"current": "temperature_2m,relative_humidity_2m,wind_speed_10m",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"timezone": "America/Sao_Paulo",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}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resposta = http.get(URL, params=parametros, timeout=15)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resposta.raise_for_status()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dados = resposta.json()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atual = dados["current"]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return {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"horario": atual["time"],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"temperatura": atual["temperature_2m"],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"umidade": atual["relative_humidity_2m"],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"vento": atual["wind_speed_10m"],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}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if __name__ == "__main__":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try: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Resultado e verificação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583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6400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▶ m06_api_open_meteo.py — janela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58368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35508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Condições atuais em Sapiranga (Open-Meteo):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horario: 2026-10-21T15:45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temperatura: 23.6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umidade: 62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vento: 13.5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4023360" cy="41148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Como verificar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▶ em </a:t>
            </a:r>
            <a:r>
              <a:rPr sz="1800">
                <a:solidFill>
                  <a:srgbClr val="1F2D3D"/>
                </a:solidFill>
                <a:latin typeface="Consolas"/>
              </a:rPr>
              <a:t>test_m06_api_com_resposta_real_gravada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Debug: expanda </a:t>
            </a:r>
            <a:r>
              <a:rPr sz="1800">
                <a:solidFill>
                  <a:srgbClr val="1F2D3D"/>
                </a:solidFill>
                <a:latin typeface="Consolas"/>
              </a:rPr>
              <a:t>dados</a:t>
            </a:r>
            <a:r>
              <a:rPr sz="1800">
                <a:solidFill>
                  <a:srgbClr val="1F2D3D"/>
                </a:solidFill>
                <a:latin typeface="Segoe UI"/>
              </a:rPr>
              <a:t> para ver o JSON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Pacote sublinhado? Alt+Enter › Install package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Inclua </a:t>
            </a:r>
            <a:r>
              <a:rPr sz="2200">
                <a:solidFill>
                  <a:srgbClr val="1F2D3D"/>
                </a:solidFill>
                <a:latin typeface="Consolas"/>
              </a:rPr>
              <a:t>apparent_temperature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Compare Sapiranga com Porto Alegre (−30,03283; −51,23019)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Peça a máxima e a mínima de hoje (</a:t>
            </a:r>
            <a:r>
              <a:rPr sz="2200">
                <a:solidFill>
                  <a:srgbClr val="1F2D3D"/>
                </a:solidFill>
                <a:latin typeface="Consolas"/>
              </a:rPr>
              <a:t>daily</a:t>
            </a:r>
            <a:r>
              <a:rPr sz="2200">
                <a:solidFill>
                  <a:srgbClr val="1F2D3D"/>
                </a:solidFill>
                <a:latin typeface="Segoe UI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Use a API de geocodificação para descobrir as coordenadas de outra cidade.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Tratamento de dados com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DataFrame, datas, filtros, agrupamentos e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Resumo por 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94944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6675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exemplos/tutorial/m07_pandas.py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94944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67512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def resumo_por_dia(df: pd.DataFrame) -&gt; pd.DataFrame: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df = df.assign(dia=df["horario"].dt.date)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return (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df.groupby("dia")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.agg(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    minima=("temperatura", "min"),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    maxima=("temperatura", "max"),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    chuva_total=("chuva_mm", "sum"),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)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.round(1)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    .reset_index()</a:t>
            </a:r>
          </a:p>
          <a:p>
            <a:pPr algn="l"/>
            <a:r>
              <a:rPr sz="1641" b="0">
                <a:solidFill>
                  <a:srgbClr val="E6EDF3"/>
                </a:solidFill>
                <a:latin typeface="Consolas"/>
              </a:rPr>
              <a:t>   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325880"/>
            <a:ext cx="3749039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5"/>
              </a:spcAft>
            </a:pPr>
            <a:r>
              <a:rPr sz="1900">
                <a:solidFill>
                  <a:srgbClr val="3D85C6"/>
                </a:solidFill>
                <a:latin typeface="Segoe UI"/>
              </a:rPr>
              <a:t>• </a:t>
            </a:r>
            <a:r>
              <a:rPr sz="1900">
                <a:solidFill>
                  <a:srgbClr val="1F2D3D"/>
                </a:solidFill>
                <a:latin typeface="Consolas"/>
              </a:rPr>
              <a:t>pd.to_datetime</a:t>
            </a:r>
            <a:r>
              <a:rPr sz="1900">
                <a:solidFill>
                  <a:srgbClr val="1F2D3D"/>
                </a:solidFill>
                <a:latin typeface="Segoe UI"/>
              </a:rPr>
              <a:t>: texto → data</a:t>
            </a:r>
          </a:p>
          <a:p>
            <a:pPr>
              <a:spcAft>
                <a:spcPts val="665"/>
              </a:spcAft>
            </a:pPr>
            <a:r>
              <a:rPr sz="1900">
                <a:solidFill>
                  <a:srgbClr val="3D85C6"/>
                </a:solidFill>
                <a:latin typeface="Segoe UI"/>
              </a:rPr>
              <a:t>• </a:t>
            </a:r>
            <a:r>
              <a:rPr sz="1900">
                <a:solidFill>
                  <a:srgbClr val="1F2D3D"/>
                </a:solidFill>
                <a:latin typeface="Segoe UI"/>
              </a:rPr>
              <a:t>Filtro: </a:t>
            </a:r>
            <a:r>
              <a:rPr sz="1900">
                <a:solidFill>
                  <a:srgbClr val="1F2D3D"/>
                </a:solidFill>
                <a:latin typeface="Consolas"/>
              </a:rPr>
              <a:t>df[df["temperatura"] &gt;= 25]</a:t>
            </a:r>
          </a:p>
          <a:p>
            <a:pPr>
              <a:spcAft>
                <a:spcPts val="665"/>
              </a:spcAft>
            </a:pPr>
            <a:r>
              <a:rPr sz="1900">
                <a:solidFill>
                  <a:srgbClr val="3D85C6"/>
                </a:solidFill>
                <a:latin typeface="Segoe UI"/>
              </a:rPr>
              <a:t>• </a:t>
            </a:r>
            <a:r>
              <a:rPr sz="1900">
                <a:solidFill>
                  <a:srgbClr val="1F2D3D"/>
                </a:solidFill>
                <a:latin typeface="Segoe UI"/>
              </a:rPr>
              <a:t>Debug › botão direito › </a:t>
            </a:r>
            <a:r>
              <a:rPr b="1" sz="1900">
                <a:solidFill>
                  <a:srgbClr val="1F2D3D"/>
                </a:solidFill>
                <a:latin typeface="Segoe UI"/>
              </a:rPr>
              <a:t>View as DataFrame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Resultado e verificação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583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6400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▶ m07_pandas.py — janela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58368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35508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168 linhas; temperatura média: 18.9 °C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Horas com 25 °C ou mais: 18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          dia  minima  maxima  chuva_total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0  2026-10-21    11.5    25.1          0.0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1  2026-10-22    14.8    27.5          0.9</a:t>
            </a:r>
          </a:p>
          <a:p>
            <a:pPr algn="l"/>
            <a:r>
              <a:rPr sz="1600" b="0">
                <a:solidFill>
                  <a:srgbClr val="E6EDF3"/>
                </a:solidFill>
                <a:latin typeface="Consolas"/>
              </a:rPr>
              <a:t>4  2026-10-25    14.5    17.9         25.2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4023360" cy="41148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Como verificar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▶ em </a:t>
            </a:r>
            <a:r>
              <a:rPr sz="1800">
                <a:solidFill>
                  <a:srgbClr val="1F2D3D"/>
                </a:solidFill>
                <a:latin typeface="Consolas"/>
              </a:rPr>
              <a:t>test_m07_pandas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Consolas"/>
              </a:rPr>
              <a:t>resumo_diario.csv</a:t>
            </a:r>
            <a:r>
              <a:rPr sz="1800">
                <a:solidFill>
                  <a:srgbClr val="1F2D3D"/>
                </a:solidFill>
                <a:latin typeface="Segoe UI"/>
              </a:rPr>
              <a:t> aparece na janela Project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Dados reais gravados: funciona offline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Umidade média por dia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Hora mais quente da semana (</a:t>
            </a:r>
            <a:r>
              <a:rPr sz="2200">
                <a:solidFill>
                  <a:srgbClr val="1F2D3D"/>
                </a:solidFill>
                <a:latin typeface="Consolas"/>
              </a:rPr>
              <a:t>idxmax</a:t>
            </a:r>
            <a:r>
              <a:rPr sz="2200">
                <a:solidFill>
                  <a:srgbClr val="1F2D3D"/>
                </a:solidFill>
                <a:latin typeface="Segoe UI"/>
              </a:rPr>
              <a:t>)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Horas com probabilidade de chuva ≥ 70 %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Compare seu resumo com a previsão diária da API. Por que a máxima difere?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SQLite e SQLAlchemy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Tabelas, chaves, restrições e consultas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Conceitos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Modelagem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Tabela = classe; linha = objeto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b="1" sz="2100">
                <a:solidFill>
                  <a:srgbClr val="1F2D3D"/>
                </a:solidFill>
                <a:latin typeface="Segoe UI"/>
              </a:rPr>
              <a:t>PK</a:t>
            </a:r>
            <a:r>
              <a:rPr sz="2100">
                <a:solidFill>
                  <a:srgbClr val="1F2D3D"/>
                </a:solidFill>
                <a:latin typeface="Segoe UI"/>
              </a:rPr>
              <a:t>: identifica a linha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b="1" sz="2100">
                <a:solidFill>
                  <a:srgbClr val="1F2D3D"/>
                </a:solidFill>
                <a:latin typeface="Segoe UI"/>
              </a:rPr>
              <a:t>FK</a:t>
            </a:r>
            <a:r>
              <a:rPr sz="2100">
                <a:solidFill>
                  <a:srgbClr val="1F2D3D"/>
                </a:solidFill>
                <a:latin typeface="Segoe UI"/>
              </a:rPr>
              <a:t>: aponta outra tabela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Relacionamento </a:t>
            </a:r>
            <a:r>
              <a:rPr b="1" sz="2100">
                <a:solidFill>
                  <a:srgbClr val="1F2D3D"/>
                </a:solidFill>
                <a:latin typeface="Segoe UI"/>
              </a:rPr>
              <a:t>1:N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Integridade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b="1" sz="2100">
                <a:solidFill>
                  <a:srgbClr val="1F2D3D"/>
                </a:solidFill>
                <a:latin typeface="Segoe UI"/>
              </a:rPr>
              <a:t>UNIQUE</a:t>
            </a:r>
            <a:r>
              <a:rPr sz="2100">
                <a:solidFill>
                  <a:srgbClr val="1F2D3D"/>
                </a:solidFill>
                <a:latin typeface="Segoe UI"/>
              </a:rPr>
              <a:t> evita duplicação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Consolas"/>
              </a:rPr>
              <a:t>commit</a:t>
            </a:r>
            <a:r>
              <a:rPr sz="2100">
                <a:solidFill>
                  <a:srgbClr val="1F2D3D"/>
                </a:solidFill>
                <a:latin typeface="Segoe UI"/>
              </a:rPr>
              <a:t> grava; </a:t>
            </a:r>
            <a:r>
              <a:rPr sz="2100">
                <a:solidFill>
                  <a:srgbClr val="1F2D3D"/>
                </a:solidFill>
                <a:latin typeface="Consolas"/>
              </a:rPr>
              <a:t>rollback</a:t>
            </a:r>
            <a:r>
              <a:rPr sz="2100">
                <a:solidFill>
                  <a:srgbClr val="1F2D3D"/>
                </a:solidFill>
                <a:latin typeface="Segoe UI"/>
              </a:rPr>
              <a:t> desfaz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Idempotente: rodar 2× não duplica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SQLite = um arquivo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Modelo com restrição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exemplos/tutorial/m08_banco.py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397764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class Observacao(Base):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__tablename__ = "observacao"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__table_args__ = (UniqueConstraint("municipio_id", "horario"),)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id: Mapped[int] = mapped_column(primary_key=True)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municipio_id: Mapped[int] = mapped_column(ForeignKey("municipio.id"))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horario: Mapped[datetime]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temperatura: Mapped[float | None] = mapped_column(Float)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municipio: Mapped[Municipio] = relationship(back_populates="observacoes")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def preparar(caminho: Path = BANCO):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engine = create_engine(f"sqlite:///{caminho.as_posix()}")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1F2D3D"/>
                </a:solidFill>
                <a:latin typeface="Segoe UI"/>
              </a:rPr>
              <a:t>Mesma hora + mesmo município = recusado · Ver o banco: DB Browser for SQLite ou janela Database (Pro)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Resultado e verificação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65836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6400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▶ m08_banco.py (2 vezes) — janela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58368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35508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69" b="0">
                <a:solidFill>
                  <a:srgbClr val="E6EDF3"/>
                </a:solidFill>
                <a:latin typeface="Consolas"/>
              </a:rPr>
              <a:t>Sapiranga 21/10 12:00 -&gt; 24.4 °C</a:t>
            </a:r>
          </a:p>
          <a:p>
            <a:pPr algn="l"/>
            <a:r>
              <a:rPr sz="1569" b="0">
                <a:solidFill>
                  <a:srgbClr val="E6EDF3"/>
                </a:solidFill>
                <a:latin typeface="Consolas"/>
              </a:rPr>
              <a:t>Sapiranga 21/10 15:00 -&gt; 24.5 °C</a:t>
            </a:r>
          </a:p>
          <a:p>
            <a:pPr algn="l"/>
            <a:r>
              <a:rPr sz="1569" b="0">
                <a:solidFill>
                  <a:srgbClr val="E6EDF3"/>
                </a:solidFill>
                <a:latin typeface="Consolas"/>
              </a:rPr>
              <a:t>Sapiranga 21/10 18:00 -&gt; 20.2 °C</a:t>
            </a:r>
          </a:p>
          <a:p>
            <a:pPr algn="l"/>
            <a:r>
              <a:rPr sz="1569" b="0">
                <a:solidFill>
                  <a:srgbClr val="E6EDF3"/>
                </a:solidFill>
                <a:latin typeface="Consolas"/>
              </a:rPr>
              <a:t>Duplicar 21/10 09:00: recusado pela restrição UNIQUE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4023360" cy="41148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Como verificar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▶ em </a:t>
            </a:r>
            <a:r>
              <a:rPr sz="1800">
                <a:solidFill>
                  <a:srgbClr val="1F2D3D"/>
                </a:solidFill>
                <a:latin typeface="Consolas"/>
              </a:rPr>
              <a:t>test_m08_banco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Botão direito em </a:t>
            </a:r>
            <a:r>
              <a:rPr sz="1800">
                <a:solidFill>
                  <a:srgbClr val="1F2D3D"/>
                </a:solidFill>
                <a:latin typeface="Consolas"/>
              </a:rPr>
              <a:t>tests/test_database.py</a:t>
            </a:r>
            <a:r>
              <a:rPr sz="1800">
                <a:solidFill>
                  <a:srgbClr val="1F2D3D"/>
                </a:solidFill>
                <a:latin typeface="Segoe UI"/>
              </a:rPr>
              <a:t> › Run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Mudou o modelo? apague </a:t>
            </a:r>
            <a:r>
              <a:rPr sz="1800">
                <a:solidFill>
                  <a:srgbClr val="1F2D3D"/>
                </a:solidFill>
                <a:latin typeface="Consolas"/>
              </a:rPr>
              <a:t>tutorial.db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Acrescente a coluna </a:t>
            </a:r>
            <a:r>
              <a:rPr sz="2200">
                <a:solidFill>
                  <a:srgbClr val="1F2D3D"/>
                </a:solidFill>
                <a:latin typeface="Consolas"/>
              </a:rPr>
              <a:t>umidade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Média por município com </a:t>
            </a:r>
            <a:r>
              <a:rPr sz="2200">
                <a:solidFill>
                  <a:srgbClr val="1F2D3D"/>
                </a:solidFill>
                <a:latin typeface="Consolas"/>
              </a:rPr>
              <a:t>func.avg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Abra </a:t>
            </a:r>
            <a:r>
              <a:rPr sz="2200">
                <a:solidFill>
                  <a:srgbClr val="1F2D3D"/>
                </a:solidFill>
                <a:latin typeface="Consolas"/>
              </a:rPr>
              <a:t>tutorial.db</a:t>
            </a:r>
            <a:r>
              <a:rPr sz="2200">
                <a:solidFill>
                  <a:srgbClr val="1F2D3D"/>
                </a:solidFill>
                <a:latin typeface="Segoe UI"/>
              </a:rPr>
              <a:t> em um visualizador de 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Estude o upsert (INSERT … ON CONFLICT DO UPDATE) em src/database/repositories.py.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Regras de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Do texto em português para 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Alerta oficial × indicador calculado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Alerta oficial (INMET)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Emitido por autoridade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Severidade padronizada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Link para a publicação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Gravado como OFICIAL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Indicador local (nosso)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Cálculo com limite configurável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Limites </a:t>
            </a:r>
            <a:r>
              <a:rPr b="1" sz="2100">
                <a:solidFill>
                  <a:srgbClr val="1F2D3D"/>
                </a:solidFill>
                <a:latin typeface="Segoe UI"/>
              </a:rPr>
              <a:t>demonstrativos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Sempre "não oficial"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Calculado na hora; nunca gravado como alerta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Indicador de rajada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exemplos/tutorial/m09_regras.py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397764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validos = [p for p in previsao if p.get("rajada") is not None and p["rajada"] &gt;= limite]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if not validos: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    return None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pior = max(validos, key=lambda p: p["rajada"])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return {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    "condicao": "Rajadas de vento acima do limite",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    "valor": pior["rajada"],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    "limite": limite,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    "horario": pior["horario"],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    "ocorrencias": len(validos),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    "classificacao": "INDICADOR CALCULADO (não oficial)",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}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if __name__ == "__main__":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previsao = [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Ausente (</a:t>
            </a:r>
            <a:r>
              <a:rPr sz="1700">
                <a:solidFill>
                  <a:srgbClr val="1F2D3D"/>
                </a:solidFill>
                <a:latin typeface="Consolas"/>
              </a:rPr>
              <a:t>None</a:t>
            </a:r>
            <a:r>
              <a:rPr sz="1700">
                <a:solidFill>
                  <a:srgbClr val="1F2D3D"/>
                </a:solidFill>
                <a:latin typeface="Segoe UI"/>
              </a:rPr>
              <a:t>) nunca dispara · Limite inclusivo (</a:t>
            </a:r>
            <a:r>
              <a:rPr sz="1700">
                <a:solidFill>
                  <a:srgbClr val="1F2D3D"/>
                </a:solidFill>
                <a:latin typeface="Consolas"/>
              </a:rPr>
              <a:t>&gt;=</a:t>
            </a:r>
            <a:r>
              <a:rPr sz="1700">
                <a:solidFill>
                  <a:srgbClr val="1F2D3D"/>
                </a:solidFill>
                <a:latin typeface="Segoe UI"/>
              </a:rPr>
              <a:t>) · Experimente no Python Console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Escreva </a:t>
            </a:r>
            <a:r>
              <a:rPr sz="2200">
                <a:solidFill>
                  <a:srgbClr val="1F2D3D"/>
                </a:solidFill>
                <a:latin typeface="Consolas"/>
              </a:rPr>
              <a:t>indicador_chuva(previsao, limite=10)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Limite de 50 km/h: quantas ocorrências?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Escreva em português a regra "umidade baixa"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Leia o limite de uma variável de ambiente (Run Configuration › Environment variables).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Desenvolvimento da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A interface lê o banco — e não a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Interface lendo o banco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exemplos/tutorial/m10_interface.py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397764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with Session(motor) as sessao: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    consulta = select(Municipio.nome, Observacao.horario, Observacao.temperatura).join(Observacao)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    df = pd.DataFrame(sessao.execute(consulta).all(), columns=["municipio", "horario", "temperatura"])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motor.dispose()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if df.empty: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    st.info("O banco está vazio. Execute primeiro: python exemplos/tutorial/m08_banco.py")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    st.stop()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municipio = st.selectbox("Município", sorted(df["municipio"].unique()))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minima = st.slider("Mostrar temperaturas a partir de (°C)", 0, 40, 0)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filtrado = df[(df["municipio"] == municipio) &amp; (df["temperatura"] &gt;= minima)]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st.metric("Registros exibidos", len(filtrado))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grafico = px.line(filtrado, x="horario", y="temperatura", markers=True, title=f"Temperatura — {municipio}")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st.plotly_chart(grafico)</a:t>
            </a:r>
          </a:p>
          <a:p>
            <a:pPr algn="l"/>
            <a:r>
              <a:rPr sz="1295" b="0">
                <a:solidFill>
                  <a:srgbClr val="E6EDF3"/>
                </a:solidFill>
                <a:latin typeface="Consolas"/>
              </a:rPr>
              <a:t>st.dataframe(filtrado, hide_index=True)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2D3D"/>
                </a:solidFill>
                <a:latin typeface="Segoe UI"/>
              </a:rPr>
              <a:t>Antes: ▶ </a:t>
            </a:r>
            <a:r>
              <a:rPr sz="1300">
                <a:solidFill>
                  <a:srgbClr val="1F2D3D"/>
                </a:solidFill>
                <a:latin typeface="Consolas"/>
              </a:rPr>
              <a:t>m08_banco.py</a:t>
            </a:r>
            <a:r>
              <a:rPr sz="1300">
                <a:solidFill>
                  <a:srgbClr val="1F2D3D"/>
                </a:solidFill>
                <a:latin typeface="Segoe UI"/>
              </a:rPr>
              <a:t> · Configuração </a:t>
            </a:r>
            <a:r>
              <a:rPr sz="1300">
                <a:solidFill>
                  <a:srgbClr val="1F2D3D"/>
                </a:solidFill>
                <a:latin typeface="Consolas"/>
              </a:rPr>
              <a:t>m10 - interface</a:t>
            </a:r>
            <a:r>
              <a:rPr sz="1300">
                <a:solidFill>
                  <a:srgbClr val="1F2D3D"/>
                </a:solidFill>
                <a:latin typeface="Segoe UI"/>
              </a:rPr>
              <a:t> (module streamlit) · </a:t>
            </a:r>
            <a:r>
              <a:rPr sz="1300">
                <a:solidFill>
                  <a:srgbClr val="1F2D3D"/>
                </a:solidFill>
                <a:latin typeface="Consolas"/>
              </a:rPr>
              <a:t>m08_banco</a:t>
            </a:r>
            <a:r>
              <a:rPr sz="1300">
                <a:solidFill>
                  <a:srgbClr val="1F2D3D"/>
                </a:solidFill>
                <a:latin typeface="Segoe UI"/>
              </a:rPr>
              <a:t> sublinhado? Sources Root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 interface completa</a:t>
            </a:r>
          </a:p>
        </p:txBody>
      </p:sp>
      <p:pic>
        <p:nvPicPr>
          <p:cNvPr id="8" name="Picture 7" descr="app_previ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69" y="1325880"/>
            <a:ext cx="4161021" cy="452628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9788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B7B"/>
                </a:solidFill>
                <a:latin typeface="Segoe UI"/>
              </a:rPr>
              <a:t>Configuração 'ClimaAlerta' — module streamlit, parâmetros run 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2588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7 páginas com </a:t>
            </a:r>
            <a:r>
              <a:rPr sz="1800">
                <a:solidFill>
                  <a:srgbClr val="1F2D3D"/>
                </a:solidFill>
                <a:latin typeface="Consolas"/>
              </a:rPr>
              <a:t>st.navigation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Unidades em todos os números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Fonte e horário dos dados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Cartão com a temperatura máxima do filtro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Troque por </a:t>
            </a:r>
            <a:r>
              <a:rPr sz="2200">
                <a:solidFill>
                  <a:srgbClr val="1F2D3D"/>
                </a:solidFill>
                <a:latin typeface="Consolas"/>
              </a:rPr>
              <a:t>px.bar</a:t>
            </a:r>
            <a:r>
              <a:rPr sz="2200">
                <a:solidFill>
                  <a:srgbClr val="1F2D3D"/>
                </a:solidFill>
                <a:latin typeface="Segoe UI"/>
              </a:rPr>
              <a:t> e compare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Qual página do ClimaAlerta mostra a última coleta de cada fonte?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Adicione st.download_button para exportar o filtro em CSV.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Integração dos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O ClimaAlerta completo com dados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Arquitetura em camadas</a:t>
            </a:r>
          </a:p>
        </p:txBody>
      </p:sp>
      <p:pic>
        <p:nvPicPr>
          <p:cNvPr id="8" name="Picture 7" descr="arquitetura_01_cam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565" y="1325880"/>
            <a:ext cx="6930390" cy="4892040"/>
          </a:xfrm>
          <a:prstGeom prst="rect">
            <a:avLst/>
          </a:prstGeom>
          <a:ln>
            <a:solidFill>
              <a:srgbClr val="C9D3DD"/>
            </a:solidFill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Executando e navegando pelo sistema no PyCharm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5943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Como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Criar o banco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▶ em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scripts/inicializar_banco.py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Coletar dados reais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▶ em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scripts/coletar_dados.py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Abrir a interface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Configuração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ClimaAlerta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Ir para a definição / onde é usado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Ctrl+B / Alt+F7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Estrutura do arquivo / abrir arquivo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Ctrl+F12 / Ctrl+Shift+N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Tarefas pendentes (esqueleto)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Janela </a:t>
                      </a:r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TODO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(Alt+6)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Saída real: INMET 10 registros; Open-Meteo 176 registros (1 observação + 168 horas + 7 dias).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O que você fez × o sistema completo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309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Seu arquivo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No ClimaAlerta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m06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buscar_condicoes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src/integrations/open_meteo.py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m08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popular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src/database/repositories.py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(upsert)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m09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indicador_rajada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src/services/indicators.py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(7 regras)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m10 interface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src/ui/page_*.py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m05 scraper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src/scraper/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Mude </a:t>
            </a:r>
            <a:r>
              <a:rPr sz="2200">
                <a:solidFill>
                  <a:srgbClr val="1F2D3D"/>
                </a:solidFill>
                <a:latin typeface="Consolas"/>
              </a:rPr>
              <a:t>LIMITE_PROBABILIDADE_CHUVA</a:t>
            </a:r>
            <a:r>
              <a:rPr sz="2200">
                <a:solidFill>
                  <a:srgbClr val="1F2D3D"/>
                </a:solidFill>
                <a:latin typeface="Segoe UI"/>
              </a:rPr>
              <a:t> para 5, reinicie e observe; depois volte para 70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Cadastre outro município e compare no Painel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Use Alt+F7 em </a:t>
            </a:r>
            <a:r>
              <a:rPr sz="2200">
                <a:solidFill>
                  <a:srgbClr val="1F2D3D"/>
                </a:solidFill>
                <a:latin typeface="Consolas"/>
              </a:rPr>
              <a:t>evaluate_indicators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Explique como o filtro por município usa o código IBGE (alert_service.py).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Atualização automatizada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Laços temporizados, robustez e argumentos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Laço robusto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exemplos/tutorial/m12_agendador.py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def executar(vezes: int, intervalo: float, coletar=buscar_condicoes, esperar=time.sleep) -&gt; list[dict]: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resultados = []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for rodada in range(1, vezes + 1):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try: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    dados = coletar(-29.63806, -51.00694)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    resultados.append(dados)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    print(f"[{datetime.now():%H:%M:%S}] rodada {rodada}: {dados['temperatura']} °C")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except Exception as erro: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    print(f"[{datetime.now():%H:%M:%S}] rodada {rodada}: falha ({erro})")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if rodada &lt; vezes: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        esperar(intervalo)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return resultados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if __name__ == "__main__":</a:t>
            </a:r>
          </a:p>
          <a:p>
            <a:pPr algn="l"/>
            <a:r>
              <a:rPr sz="1345" b="0">
                <a:solidFill>
                  <a:srgbClr val="E6EDF3"/>
                </a:solidFill>
                <a:latin typeface="Consolas"/>
              </a:rPr>
              <a:t>    parser = argparse.ArgumentParser(description="Coleta repetida (tutorial)")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Argumentos no PyCharm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858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Configuração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Script parameters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m12_agendador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--vezes 3 --intervalo 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coletar_dados --loop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--loop --intervalo 15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Parar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■ na janela Run (Ctrl+F2)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Saída real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[15:45:44] rodada 1: 23.6 °C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·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[15:45:50] rodada 2: 23.6 °C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Execute uma vez com ▶ para o PyCharm criar a configuração; depois edite os parâmetros.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Desligue o Wi-Fi em uma rodada e observe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Mostre também a umidade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Deixe </a:t>
            </a:r>
            <a:r>
              <a:rPr sz="2200">
                <a:solidFill>
                  <a:srgbClr val="1F2D3D"/>
                </a:solidFill>
                <a:latin typeface="Consolas"/>
              </a:rPr>
              <a:t>coletar_dados --loop</a:t>
            </a:r>
            <a:r>
              <a:rPr sz="2200">
                <a:solidFill>
                  <a:srgbClr val="1F2D3D"/>
                </a:solidFill>
                <a:latin typeface="Segoe UI"/>
              </a:rPr>
              <a:t> rodando e veja o Histórico crescer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Grave cada rodada em um CSV com data e hora.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Testes e depuração no PyCharm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pytest, árvore de testes, tracebacks e depurador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Seus primeiros testes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exemplos/tutorial/test_m09_regras.py (trecho sem comentários — código completo e comentado no manual)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397764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def test_dispara_com_o_maior_valor():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previsao = [{"horario": "a", "rajada": 61}, {"horario": "b", "rajada": 80}]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resultado = indicador_rajada(previsao)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assert resultado["valor"] == 80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assert resultado["ocorrencias"] == 2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def test_limite_e_inclusivo():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assert indicador_rajada([{"horario": "a", "rajada": 60}]) is not None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def test_nao_dispara_abaixo_do_limite():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assert indicador_rajada([{"horario": "a", "rajada": 59.9}]) is None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def test_valor_ausente_nunca_dispara():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assert indicador_rajada([{"horario": "a", "rajada": None}]) is None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def test_classificacao_nao_oficial():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resultado = indicador_rajada([{"horario": "a", "rajada": 90}])</a:t>
            </a:r>
          </a:p>
          <a:p>
            <a:pPr algn="l"/>
            <a:r>
              <a:rPr sz="1700" b="0">
                <a:solidFill>
                  <a:srgbClr val="E6EDF3"/>
                </a:solidFill>
                <a:latin typeface="Consolas"/>
              </a:rPr>
              <a:t>    assert "não oficial" in resultado["classificacao"]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▶ ao lado de cada teste · Árvore: ✓ verde / ✗ vermelho · Rerun Failed Tests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Depurador do PyCharm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4846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Atalho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Ponto de parada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Clique na margem ou Ctrl+F8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Depurar um teste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Botão direito no ▶ do teste › Debug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Próxima linha / entrar na função / sair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F8 / F7 / Shift+F8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Continuar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F9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Avaliar expressão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Alt+F8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Teste do teste: troque &gt;= por &gt; e veja test_limite_e_inclusivo falhar. Desfaça com Ctrl+Z.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Suíte completa e qualidade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Terminal do PyCharm (Alt+F12) — pasta raiz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10881360" cy="1335024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607040" cy="1289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pytest exemplos/tutorial/test_m09_regras.py -v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pytest -v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pytest --cov=src --cov-report=term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ruff check 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No PyCharm: botão direito na pasta tests › Run 'pytest in tests'; Code › Inspect Code.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Teste para </a:t>
            </a:r>
            <a:r>
              <a:rPr sz="2200">
                <a:solidFill>
                  <a:srgbClr val="1F2D3D"/>
                </a:solidFill>
                <a:latin typeface="Consolas"/>
              </a:rPr>
              <a:t>indicador_chuva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Teste </a:t>
            </a:r>
            <a:r>
              <a:rPr sz="2200">
                <a:solidFill>
                  <a:srgbClr val="1F2D3D"/>
                </a:solidFill>
                <a:latin typeface="Consolas"/>
              </a:rPr>
              <a:t>celsius_para_fahrenheit(0) == 32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Provoque um erro e clique no link do traceback na janela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Use @pytest.mark.parametrize; estude o FakeHttp em tests/conftest.py.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Git e documentação no PyCharm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Histórico de versões e documentos que acompanham 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Git integrado ao PyCharm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315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Como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Ativar o Git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VCS › Enable Version Control Integration › Git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Commit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Ctrl+K — marque os arquivos e escreva a mensagem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Histórico / diferenças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Alt+9 › Log · botão direito › Git › Show Diff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Novo ramo / mesclar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Widget de ramos no topo › New Branch · Git › Merge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Publicar no GitHub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Git › GitHub › </a:t>
                      </a:r>
                      <a:r>
                        <a:rPr b="1" sz="2200">
                          <a:solidFill>
                            <a:srgbClr val="1F2D3D"/>
                          </a:solidFill>
                          <a:latin typeface="Segoe UI"/>
                        </a:rPr>
                        <a:t>Share Project on GitHub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Enviar / receber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Ctrl+Shift+K (Push) / Ctrl+T (Update)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Configure uma vez no Terminal: git config --global user.name e user.email.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Documentos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01–02</a:t>
            </a:r>
            <a:r>
              <a:rPr sz="2400">
                <a:solidFill>
                  <a:srgbClr val="1F2D3D"/>
                </a:solidFill>
                <a:latin typeface="Segoe UI"/>
              </a:rPr>
              <a:t> Requisitos e regras de negócio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03–04</a:t>
            </a:r>
            <a:r>
              <a:rPr sz="2400">
                <a:solidFill>
                  <a:srgbClr val="1F2D3D"/>
                </a:solidFill>
                <a:latin typeface="Segoe UI"/>
              </a:rPr>
              <a:t> Arquitetura e dicionário de dados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05–07</a:t>
            </a:r>
            <a:r>
              <a:rPr sz="2400">
                <a:solidFill>
                  <a:srgbClr val="1F2D3D"/>
                </a:solidFill>
                <a:latin typeface="Segoe UI"/>
              </a:rPr>
              <a:t> BPMN, fluxogramas e casos de uso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08</a:t>
            </a:r>
            <a:r>
              <a:rPr sz="2400">
                <a:solidFill>
                  <a:srgbClr val="1F2D3D"/>
                </a:solidFill>
                <a:latin typeface="Segoe UI"/>
              </a:rPr>
              <a:t> Plano e relatório de testes (resultados reais)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09–10</a:t>
            </a:r>
            <a:r>
              <a:rPr sz="2400">
                <a:solidFill>
                  <a:srgbClr val="1F2D3D"/>
                </a:solidFill>
                <a:latin typeface="Segoe UI"/>
              </a:rPr>
              <a:t> Implantação, segurança e limitações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11–12</a:t>
            </a:r>
            <a:r>
              <a:rPr sz="2400">
                <a:solidFill>
                  <a:srgbClr val="1F2D3D"/>
                </a:solidFill>
                <a:latin typeface="Segoe UI"/>
              </a:rPr>
              <a:t> Matriz de rastreabilidade e manual técnico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Os PDFs são gerados a partir do código, do banco e do resultado real dos testes.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Exercícios — Módulo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Faça 3 commits com mensagens claras e veja o Log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Encontre na matriz o teste do RF014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Abra com Ctrl+Shift+N o módulo de um requisito do documento 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Crie um ramo por exercício e una-os com Merge.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Projeto final e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IND08 — Índice UV: código, testes, configuração e documentação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Manual pedagógico (slides) · PyCharm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Projeto final: o que alterar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223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Arquivo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Alteração (código completo no manual)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src/config.py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Campo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uv_index_max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em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IndicatorThresholds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; leitura de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LIMITE_UV_MAXIMO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em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get_settings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src/services/indicators.py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Regra IND08 em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build_rules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.env.example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 e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.env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LIMITE_UV_MAXIMO=8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tests/test_indicators.py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8 regras no teste existente + </a:t>
                      </a:r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test_uv_index_rule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>
                <a:solidFill>
                  <a:srgbClr val="1F2D3D"/>
                </a:solidFill>
                <a:latin typeface="Segoe UI"/>
              </a:rPr>
              <a:t>O código completo do manual foi aplicado a uma cópia do projeto e a suíte passou (tests/test_projeto_final.py).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Teste novo do IND08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tests/test_indicators.py (função completa no manual, com comentários)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def test_uv_index_rule():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rule = next(r for r in build_rules(IndicatorThresholds()) if r.rule_id == "IND08")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hits = evaluate_daily(rule, [day(21, uv_index_max=9.1), day(22, uv_index_max=6.0)])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assert [h.reference_time for h in hits] == [date(2026, 10, 21)]</a:t>
            </a:r>
          </a:p>
          <a:p>
            <a:pPr algn="l"/>
            <a:r>
              <a:rPr sz="1506" b="0">
                <a:solidFill>
                  <a:srgbClr val="E6EDF3"/>
                </a:solidFill>
                <a:latin typeface="Consolas"/>
              </a:rPr>
              <a:t>    assert hits[0].value == 9.1 and hits[0].classification.startswith("INDICADOR CALCULADO")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Roteiro de apresentação (10–15 min)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235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Tempo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Conteúdo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Problema e objetivo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4 min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Demonstração pelo PyCharm: Painel, Previsão, Central de alertas (oficial × calculado)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2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Arquitetura e fontes de dados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2 min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Selenium e por que o INMET é consumido via API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2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Árvore de testes verde e matriz de rastreabilidade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2 min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 extensão do grupo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Limitações e próximos passos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REVISÃO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Revisão: conceitos e recursos do PyCharm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75488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Módulo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Conceito-chave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Recurso do PyCharm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1–2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Ambiente virtual; fundamentos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Interpreter, Install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3–4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Dashboards; seletores CSS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Run Configuration de módulo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5–6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Selenium; APIs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Depurador (F8, Alt+F8)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7–8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Pandas; banco de dados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View as DataFrame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9–10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Regras; interface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Python Console, Sources Root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11–12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Integração; automação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Ctrl+B, Alt+F7, Script parameters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13–15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Testes; Git; definição de pronto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Árvore de testes, Commit, Merge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ENCERRAMENTO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Checklist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☐ Interpretador </a:t>
            </a:r>
            <a:r>
              <a:rPr sz="2400">
                <a:solidFill>
                  <a:srgbClr val="1F2D3D"/>
                </a:solidFill>
                <a:latin typeface="Consolas"/>
              </a:rPr>
              <a:t>.venv</a:t>
            </a:r>
            <a:r>
              <a:rPr sz="2400">
                <a:solidFill>
                  <a:srgbClr val="1F2D3D"/>
                </a:solidFill>
                <a:latin typeface="Segoe UI"/>
              </a:rPr>
              <a:t> e dependências instalados pelo PyCharm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☐ Arquivos m01 a m12 e test_m09 criados e testados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☐ Coleta real com SUCESSO nas duas fontes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☐ IND08 implementado com testes aprovados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☐ </a:t>
            </a:r>
            <a:r>
              <a:rPr sz="2400">
                <a:solidFill>
                  <a:srgbClr val="1F2D3D"/>
                </a:solidFill>
                <a:latin typeface="Consolas"/>
              </a:rPr>
              <a:t>ruff check .</a:t>
            </a:r>
            <a:r>
              <a:rPr sz="2400">
                <a:solidFill>
                  <a:srgbClr val="1F2D3D"/>
                </a:solidFill>
                <a:latin typeface="Segoe UI"/>
              </a:rPr>
              <a:t> sem erros e suíte completa aprovada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☐ Repositório Git com histórico (e no GitHub)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☐ Apresentação explica alerta oficial × indicador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Manual pedagógico (slides) · PyCharm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ENCERRAMENTO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PyCharm: jetbrains.com/help/pycharm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Python: docs.python.org/pt-br/3 · Streamlit: docs.streamlit.io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Selenium: selenium.dev/documentation · Requests: requests.readthedocs.io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Pandas: pandas.pydata.org · SQLAlchemy: docs.sqlalchemy.org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pytest: docs.pytest.org · Git: git-scm.com/book/pt-br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Open-Meteo: open-meteo.com/en/docs · INMET: avisos.inmet.gov.br · IBGE: servicodados.ibge.gov.br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Manual completo: documentacao/pedagogica/manual_pedagogico_climaalerta.pdf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